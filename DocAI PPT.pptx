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embeddedFontLst>
    <p:embeddedFont>
      <p:font typeface="DM Sans" pitchFamily="2" charset="0"/>
      <p:regular r:id="rId13"/>
      <p:bold r:id="rId14"/>
    </p:embeddedFont>
    <p:embeddedFont>
      <p:font typeface="Inter" panose="020B0604020202020204" charset="0"/>
      <p:regular r:id="rId15"/>
    </p:embeddedFont>
    <p:embeddedFont>
      <p:font typeface="Manrope" panose="020B0604020202020204" charset="0"/>
      <p:regular r:id="rId16"/>
    </p:embeddedFont>
    <p:embeddedFont>
      <p:font typeface="PT Serif" panose="020A0603040505020204" pitchFamily="18" charset="0"/>
      <p:regular r:id="rId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7" d="100"/>
          <a:sy n="117" d="100"/>
        </p:scale>
        <p:origin x="466"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56307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0ED"/>
          </a:solidFill>
          <a:ln/>
        </p:spPr>
        <p:txBody>
          <a:bodyPr/>
          <a:lstStyle/>
          <a:p>
            <a:endParaRPr/>
          </a:p>
        </p:txBody>
      </p:sp>
      <p:sp>
        <p:nvSpPr>
          <p:cNvPr id="3" name="Shape 1"/>
          <p:cNvSpPr/>
          <p:nvPr/>
        </p:nvSpPr>
        <p:spPr>
          <a:xfrm>
            <a:off x="0" y="0"/>
            <a:ext cx="9144000" cy="5143500"/>
          </a:xfrm>
          <a:prstGeom prst="rect">
            <a:avLst/>
          </a:prstGeom>
          <a:solidFill>
            <a:srgbClr val="FFFFFF"/>
          </a:solidFill>
          <a:ln/>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9.svg"/><Relationship Id="rId5" Type="http://schemas.openxmlformats.org/officeDocument/2006/relationships/image" Target="../media/image8.sv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sv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sv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svg"/><Relationship Id="rId9"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15" name="Shape 0">
            <a:extLst>
              <a:ext uri="{FF2B5EF4-FFF2-40B4-BE49-F238E27FC236}">
                <a16:creationId xmlns:a16="http://schemas.microsoft.com/office/drawing/2014/main" id="{BA5A387E-17DA-D8B1-F60F-507B9EEF80A5}"/>
              </a:ext>
            </a:extLst>
          </p:cNvPr>
          <p:cNvSpPr/>
          <p:nvPr/>
        </p:nvSpPr>
        <p:spPr>
          <a:xfrm>
            <a:off x="191314" y="339234"/>
            <a:ext cx="2660824" cy="266402"/>
          </a:xfrm>
          <a:prstGeom prst="roundRect">
            <a:avLst>
              <a:gd name="adj" fmla="val 6386"/>
            </a:avLst>
          </a:prstGeom>
          <a:solidFill>
            <a:srgbClr val="FFDECC"/>
          </a:solidFill>
          <a:ln/>
        </p:spPr>
        <p:txBody>
          <a:bodyPr/>
          <a:lstStyle/>
          <a:p>
            <a:endParaRPr/>
          </a:p>
        </p:txBody>
      </p:sp>
      <p:pic>
        <p:nvPicPr>
          <p:cNvPr id="16" name="Image 0" descr="preencoded.png">
            <a:extLst>
              <a:ext uri="{FF2B5EF4-FFF2-40B4-BE49-F238E27FC236}">
                <a16:creationId xmlns:a16="http://schemas.microsoft.com/office/drawing/2014/main" id="{AAE456B9-397F-9052-B8A0-11907C9C8A3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6369" y="415731"/>
            <a:ext cx="113407" cy="113407"/>
          </a:xfrm>
          <a:prstGeom prst="rect">
            <a:avLst/>
          </a:prstGeom>
        </p:spPr>
      </p:pic>
      <p:sp>
        <p:nvSpPr>
          <p:cNvPr id="17" name="Text 1">
            <a:extLst>
              <a:ext uri="{FF2B5EF4-FFF2-40B4-BE49-F238E27FC236}">
                <a16:creationId xmlns:a16="http://schemas.microsoft.com/office/drawing/2014/main" id="{4FBF5118-0EF8-4148-075C-53D779965F80}"/>
              </a:ext>
            </a:extLst>
          </p:cNvPr>
          <p:cNvSpPr/>
          <p:nvPr/>
        </p:nvSpPr>
        <p:spPr>
          <a:xfrm>
            <a:off x="446479" y="381724"/>
            <a:ext cx="2777803" cy="181421"/>
          </a:xfrm>
          <a:prstGeom prst="rect">
            <a:avLst/>
          </a:prstGeom>
          <a:noFill/>
          <a:ln/>
        </p:spPr>
        <p:txBody>
          <a:bodyPr wrap="none" lIns="0" tIns="0" rIns="0" bIns="0" rtlCol="0" anchor="t"/>
          <a:lstStyle/>
          <a:p>
            <a:pPr marL="0" indent="0" algn="l">
              <a:lnSpc>
                <a:spcPct val="133000"/>
              </a:lnSpc>
              <a:buNone/>
            </a:pPr>
            <a:r>
              <a:rPr lang="en-US" sz="850" dirty="0">
                <a:solidFill>
                  <a:srgbClr val="383838"/>
                </a:solidFill>
                <a:latin typeface="DM Sans" pitchFamily="34" charset="0"/>
                <a:ea typeface="DM Sans" pitchFamily="34" charset="-122"/>
                <a:cs typeface="DM Sans" pitchFamily="34" charset="-120"/>
              </a:rPr>
              <a:t>CAPGEMINI AGENTAI BUILDATHON · ROUND 2</a:t>
            </a:r>
            <a:endParaRPr lang="en-US" sz="850" dirty="0"/>
          </a:p>
        </p:txBody>
      </p:sp>
      <p:sp>
        <p:nvSpPr>
          <p:cNvPr id="18" name="Text 2">
            <a:extLst>
              <a:ext uri="{FF2B5EF4-FFF2-40B4-BE49-F238E27FC236}">
                <a16:creationId xmlns:a16="http://schemas.microsoft.com/office/drawing/2014/main" id="{73CB26C1-2EA8-D61B-9728-7CA019E55E4B}"/>
              </a:ext>
            </a:extLst>
          </p:cNvPr>
          <p:cNvSpPr/>
          <p:nvPr/>
        </p:nvSpPr>
        <p:spPr>
          <a:xfrm>
            <a:off x="191314" y="662339"/>
            <a:ext cx="6143179" cy="465162"/>
          </a:xfrm>
          <a:prstGeom prst="rect">
            <a:avLst/>
          </a:prstGeom>
          <a:noFill/>
          <a:ln/>
        </p:spPr>
        <p:txBody>
          <a:bodyPr wrap="none" lIns="0" tIns="0" rIns="0" bIns="0" rtlCol="0" anchor="t"/>
          <a:lstStyle/>
          <a:p>
            <a:pPr marL="0" indent="0" algn="l">
              <a:lnSpc>
                <a:spcPct val="104000"/>
              </a:lnSpc>
              <a:buNone/>
            </a:pPr>
            <a:r>
              <a:rPr lang="en-US" sz="2900" dirty="0">
                <a:solidFill>
                  <a:srgbClr val="020202"/>
                </a:solidFill>
                <a:latin typeface="PT Serif" pitchFamily="34" charset="0"/>
                <a:ea typeface="PT Serif" pitchFamily="34" charset="-122"/>
                <a:cs typeface="PT Serif" pitchFamily="34" charset="-120"/>
              </a:rPr>
              <a:t>Automated Knowledge Base Agent</a:t>
            </a:r>
            <a:endParaRPr lang="en-US" sz="2900" dirty="0"/>
          </a:p>
        </p:txBody>
      </p:sp>
      <p:sp>
        <p:nvSpPr>
          <p:cNvPr id="19" name="Text 3">
            <a:extLst>
              <a:ext uri="{FF2B5EF4-FFF2-40B4-BE49-F238E27FC236}">
                <a16:creationId xmlns:a16="http://schemas.microsoft.com/office/drawing/2014/main" id="{655EDDCA-1464-690F-5CBB-DD9399D589BF}"/>
              </a:ext>
            </a:extLst>
          </p:cNvPr>
          <p:cNvSpPr/>
          <p:nvPr/>
        </p:nvSpPr>
        <p:spPr>
          <a:xfrm>
            <a:off x="191314" y="1340103"/>
            <a:ext cx="8151763"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383838"/>
                </a:solidFill>
                <a:latin typeface="DM Sans" pitchFamily="34" charset="0"/>
                <a:ea typeface="DM Sans" pitchFamily="34" charset="-122"/>
                <a:cs typeface="DM Sans" pitchFamily="34" charset="-120"/>
              </a:rPr>
              <a:t>AI-powered knowledge discovery from scattered documents — transforming organizational knowledge into trusted, searchable, and structured answers.</a:t>
            </a:r>
            <a:endParaRPr lang="en-US" sz="1100" dirty="0"/>
          </a:p>
        </p:txBody>
      </p:sp>
      <p:sp>
        <p:nvSpPr>
          <p:cNvPr id="20" name="Shape 4">
            <a:extLst>
              <a:ext uri="{FF2B5EF4-FFF2-40B4-BE49-F238E27FC236}">
                <a16:creationId xmlns:a16="http://schemas.microsoft.com/office/drawing/2014/main" id="{64985800-1649-AED1-FE86-CB467BE3D6A4}"/>
              </a:ext>
            </a:extLst>
          </p:cNvPr>
          <p:cNvSpPr/>
          <p:nvPr/>
        </p:nvSpPr>
        <p:spPr>
          <a:xfrm>
            <a:off x="191314" y="1988621"/>
            <a:ext cx="8151763" cy="10567"/>
          </a:xfrm>
          <a:prstGeom prst="rect">
            <a:avLst/>
          </a:prstGeom>
          <a:solidFill>
            <a:srgbClr val="383838">
              <a:alpha val="50000"/>
            </a:srgbClr>
          </a:solidFill>
          <a:ln/>
        </p:spPr>
        <p:txBody>
          <a:bodyPr/>
          <a:lstStyle/>
          <a:p>
            <a:endParaRPr/>
          </a:p>
        </p:txBody>
      </p:sp>
      <p:sp>
        <p:nvSpPr>
          <p:cNvPr id="21" name="Text 5">
            <a:extLst>
              <a:ext uri="{FF2B5EF4-FFF2-40B4-BE49-F238E27FC236}">
                <a16:creationId xmlns:a16="http://schemas.microsoft.com/office/drawing/2014/main" id="{329F4195-5B66-1F0D-83F6-FF3E4C99F0C1}"/>
              </a:ext>
            </a:extLst>
          </p:cNvPr>
          <p:cNvSpPr/>
          <p:nvPr/>
        </p:nvSpPr>
        <p:spPr>
          <a:xfrm>
            <a:off x="191314" y="2199940"/>
            <a:ext cx="8608963" cy="226814"/>
          </a:xfrm>
          <a:prstGeom prst="rect">
            <a:avLst/>
          </a:prstGeom>
          <a:noFill/>
          <a:ln/>
        </p:spPr>
        <p:txBody>
          <a:bodyPr wrap="none" lIns="0" tIns="0" rIns="0" bIns="0" rtlCol="0" anchor="t"/>
          <a:lstStyle/>
          <a:p>
            <a:pPr marL="0" indent="0" algn="l">
              <a:lnSpc>
                <a:spcPct val="133000"/>
              </a:lnSpc>
              <a:buNone/>
            </a:pPr>
            <a:r>
              <a:rPr lang="en-US" sz="1100" b="1" dirty="0">
                <a:solidFill>
                  <a:srgbClr val="383838"/>
                </a:solidFill>
                <a:latin typeface="DM Sans" pitchFamily="34" charset="0"/>
                <a:ea typeface="DM Sans" pitchFamily="34" charset="-122"/>
                <a:cs typeface="DM Sans" pitchFamily="34" charset="-120"/>
              </a:rPr>
              <a:t>Team:</a:t>
            </a:r>
            <a:r>
              <a:rPr lang="en-US" sz="1100" dirty="0">
                <a:solidFill>
                  <a:srgbClr val="383838"/>
                </a:solidFill>
                <a:latin typeface="DM Sans" pitchFamily="34" charset="0"/>
                <a:ea typeface="DM Sans" pitchFamily="34" charset="-122"/>
                <a:cs typeface="DM Sans" pitchFamily="34" charset="-120"/>
              </a:rPr>
              <a:t> </a:t>
            </a:r>
            <a:r>
              <a:rPr lang="en-US" sz="1100" dirty="0">
                <a:solidFill>
                  <a:srgbClr val="E04F00"/>
                </a:solidFill>
                <a:latin typeface="DM Sans" pitchFamily="34" charset="0"/>
                <a:ea typeface="DM Sans" pitchFamily="34" charset="-122"/>
                <a:cs typeface="DM Sans" pitchFamily="34" charset="-120"/>
              </a:rPr>
              <a:t>SuperVerse</a:t>
            </a:r>
            <a:r>
              <a:rPr lang="en-US" sz="1100" dirty="0">
                <a:solidFill>
                  <a:srgbClr val="383838"/>
                </a:solidFill>
                <a:latin typeface="DM Sans" pitchFamily="34" charset="0"/>
                <a:ea typeface="DM Sans" pitchFamily="34" charset="-122"/>
                <a:cs typeface="DM Sans" pitchFamily="34" charset="-120"/>
              </a:rPr>
              <a:t>  ·  Niswanth T · NareshKumar J · NithishSarwin M · VictorVengatesh M · Bharath B</a:t>
            </a:r>
            <a:endParaRPr lang="en-US" sz="1100" dirty="0"/>
          </a:p>
        </p:txBody>
      </p:sp>
      <p:sp>
        <p:nvSpPr>
          <p:cNvPr id="22" name="Text 6">
            <a:extLst>
              <a:ext uri="{FF2B5EF4-FFF2-40B4-BE49-F238E27FC236}">
                <a16:creationId xmlns:a16="http://schemas.microsoft.com/office/drawing/2014/main" id="{D6C779D1-58AC-57D7-2B7D-DDDDCFC2F088}"/>
              </a:ext>
            </a:extLst>
          </p:cNvPr>
          <p:cNvSpPr/>
          <p:nvPr/>
        </p:nvSpPr>
        <p:spPr>
          <a:xfrm>
            <a:off x="191314" y="2586224"/>
            <a:ext cx="8151763" cy="1481676"/>
          </a:xfrm>
          <a:prstGeom prst="rect">
            <a:avLst/>
          </a:prstGeom>
          <a:noFill/>
          <a:ln/>
        </p:spPr>
        <p:txBody>
          <a:bodyPr wrap="square" lIns="0" tIns="0" rIns="0" bIns="0" rtlCol="0" anchor="t">
            <a:normAutofit lnSpcReduction="10000"/>
          </a:bodyPr>
          <a:lstStyle/>
          <a:p>
            <a:pPr marL="0" indent="0">
              <a:lnSpc>
                <a:spcPct val="133000"/>
              </a:lnSpc>
              <a:buNone/>
            </a:pPr>
            <a:r>
              <a:rPr lang="en-US" sz="1100" b="1" dirty="0">
                <a:solidFill>
                  <a:srgbClr val="383838"/>
                </a:solidFill>
                <a:latin typeface="DM Sans" pitchFamily="34" charset="0"/>
                <a:ea typeface="DM Sans" pitchFamily="34" charset="-122"/>
                <a:cs typeface="DM Sans" pitchFamily="34" charset="-120"/>
              </a:rPr>
              <a:t>Roles:</a:t>
            </a:r>
            <a:r>
              <a:rPr lang="en-US" sz="1100" dirty="0">
                <a:solidFill>
                  <a:srgbClr val="383838"/>
                </a:solidFill>
                <a:latin typeface="DM Sans" pitchFamily="34" charset="0"/>
                <a:ea typeface="DM Sans" pitchFamily="34" charset="-122"/>
                <a:cs typeface="DM Sans" pitchFamily="34" charset="-120"/>
              </a:rPr>
              <a:t> Agent Architect · Backend &amp; RAG Developer · UI/UX Developer · Evaluation &amp; Compliance Lead  </a:t>
            </a:r>
          </a:p>
          <a:p>
            <a:pPr>
              <a:lnSpc>
                <a:spcPct val="133000"/>
              </a:lnSpc>
            </a:pPr>
            <a:r>
              <a:rPr lang="en-US" sz="1100" dirty="0">
                <a:solidFill>
                  <a:srgbClr val="383838"/>
                </a:solidFill>
                <a:latin typeface="DM Sans" pitchFamily="34" charset="0"/>
                <a:ea typeface="DM Sans" pitchFamily="34" charset="-122"/>
                <a:cs typeface="DM Sans" pitchFamily="34" charset="-120"/>
              </a:rPr>
              <a:t>Niswanth T– B.E Artificial Intelligence and Machine Learning, 4</a:t>
            </a:r>
            <a:r>
              <a:rPr lang="en-US" sz="1100" baseline="30000" dirty="0">
                <a:solidFill>
                  <a:srgbClr val="383838"/>
                </a:solidFill>
                <a:latin typeface="DM Sans" pitchFamily="34" charset="0"/>
                <a:ea typeface="DM Sans" pitchFamily="34" charset="-122"/>
                <a:cs typeface="DM Sans" pitchFamily="34" charset="-120"/>
              </a:rPr>
              <a:t>th</a:t>
            </a:r>
            <a:r>
              <a:rPr lang="en-US" sz="1100" dirty="0">
                <a:solidFill>
                  <a:srgbClr val="383838"/>
                </a:solidFill>
                <a:latin typeface="DM Sans" pitchFamily="34" charset="0"/>
                <a:ea typeface="DM Sans" pitchFamily="34" charset="-122"/>
                <a:cs typeface="DM Sans" pitchFamily="34" charset="-120"/>
              </a:rPr>
              <a:t> Year</a:t>
            </a:r>
          </a:p>
          <a:p>
            <a:pPr>
              <a:lnSpc>
                <a:spcPct val="133000"/>
              </a:lnSpc>
            </a:pPr>
            <a:r>
              <a:rPr lang="en-US" sz="1100" dirty="0">
                <a:solidFill>
                  <a:srgbClr val="383838"/>
                </a:solidFill>
                <a:latin typeface="DM Sans" pitchFamily="34" charset="0"/>
                <a:ea typeface="DM Sans" pitchFamily="34" charset="-122"/>
                <a:cs typeface="DM Sans" pitchFamily="34" charset="-120"/>
              </a:rPr>
              <a:t>NareshKumar J – B.E Artificial Intelligence and Machine Learning, 4</a:t>
            </a:r>
            <a:r>
              <a:rPr lang="en-US" sz="1100" baseline="30000" dirty="0">
                <a:solidFill>
                  <a:srgbClr val="383838"/>
                </a:solidFill>
                <a:latin typeface="DM Sans" pitchFamily="34" charset="0"/>
                <a:ea typeface="DM Sans" pitchFamily="34" charset="-122"/>
                <a:cs typeface="DM Sans" pitchFamily="34" charset="-120"/>
              </a:rPr>
              <a:t>th</a:t>
            </a:r>
            <a:r>
              <a:rPr lang="en-US" sz="1100" dirty="0">
                <a:solidFill>
                  <a:srgbClr val="383838"/>
                </a:solidFill>
                <a:latin typeface="DM Sans" pitchFamily="34" charset="0"/>
                <a:ea typeface="DM Sans" pitchFamily="34" charset="-122"/>
                <a:cs typeface="DM Sans" pitchFamily="34" charset="-120"/>
              </a:rPr>
              <a:t>  Year</a:t>
            </a:r>
          </a:p>
          <a:p>
            <a:pPr>
              <a:lnSpc>
                <a:spcPct val="133000"/>
              </a:lnSpc>
            </a:pPr>
            <a:r>
              <a:rPr lang="en-US" sz="1100">
                <a:solidFill>
                  <a:srgbClr val="383838"/>
                </a:solidFill>
                <a:latin typeface="DM Sans" pitchFamily="34" charset="0"/>
                <a:ea typeface="DM Sans" pitchFamily="34" charset="-122"/>
                <a:cs typeface="DM Sans" pitchFamily="34" charset="-120"/>
              </a:rPr>
              <a:t>NithishSarwin</a:t>
            </a:r>
            <a:r>
              <a:rPr lang="en-US" sz="1100" dirty="0">
                <a:solidFill>
                  <a:srgbClr val="383838"/>
                </a:solidFill>
                <a:latin typeface="DM Sans" pitchFamily="34" charset="0"/>
                <a:ea typeface="DM Sans" pitchFamily="34" charset="-122"/>
                <a:cs typeface="DM Sans" pitchFamily="34" charset="-120"/>
              </a:rPr>
              <a:t> M– B.E Artificial Intelligence and Machine Learning, 4</a:t>
            </a:r>
            <a:r>
              <a:rPr lang="en-US" sz="1100" baseline="30000" dirty="0">
                <a:solidFill>
                  <a:srgbClr val="383838"/>
                </a:solidFill>
                <a:latin typeface="DM Sans" pitchFamily="34" charset="0"/>
                <a:ea typeface="DM Sans" pitchFamily="34" charset="-122"/>
                <a:cs typeface="DM Sans" pitchFamily="34" charset="-120"/>
              </a:rPr>
              <a:t>th</a:t>
            </a:r>
            <a:r>
              <a:rPr lang="en-US" sz="1100" dirty="0">
                <a:solidFill>
                  <a:srgbClr val="383838"/>
                </a:solidFill>
                <a:latin typeface="DM Sans" pitchFamily="34" charset="0"/>
                <a:ea typeface="DM Sans" pitchFamily="34" charset="-122"/>
                <a:cs typeface="DM Sans" pitchFamily="34" charset="-120"/>
              </a:rPr>
              <a:t> Year</a:t>
            </a:r>
          </a:p>
          <a:p>
            <a:pPr>
              <a:lnSpc>
                <a:spcPct val="133000"/>
              </a:lnSpc>
            </a:pPr>
            <a:r>
              <a:rPr lang="en-US" sz="1100" dirty="0">
                <a:solidFill>
                  <a:srgbClr val="383838"/>
                </a:solidFill>
                <a:latin typeface="DM Sans" pitchFamily="34" charset="0"/>
                <a:ea typeface="DM Sans" pitchFamily="34" charset="-122"/>
                <a:cs typeface="DM Sans" pitchFamily="34" charset="-120"/>
              </a:rPr>
              <a:t>Victor Vengatesh M – B.E Artificial Intelligence and Machine Learning, 4</a:t>
            </a:r>
            <a:r>
              <a:rPr lang="en-US" sz="1100" baseline="30000" dirty="0">
                <a:solidFill>
                  <a:srgbClr val="383838"/>
                </a:solidFill>
                <a:latin typeface="DM Sans" pitchFamily="34" charset="0"/>
                <a:ea typeface="DM Sans" pitchFamily="34" charset="-122"/>
                <a:cs typeface="DM Sans" pitchFamily="34" charset="-120"/>
              </a:rPr>
              <a:t>th</a:t>
            </a:r>
            <a:r>
              <a:rPr lang="en-US" sz="1100" dirty="0">
                <a:solidFill>
                  <a:srgbClr val="383838"/>
                </a:solidFill>
                <a:latin typeface="DM Sans" pitchFamily="34" charset="0"/>
                <a:ea typeface="DM Sans" pitchFamily="34" charset="-122"/>
                <a:cs typeface="DM Sans" pitchFamily="34" charset="-120"/>
              </a:rPr>
              <a:t> Year</a:t>
            </a:r>
          </a:p>
          <a:p>
            <a:pPr>
              <a:lnSpc>
                <a:spcPct val="133000"/>
              </a:lnSpc>
            </a:pPr>
            <a:r>
              <a:rPr lang="en-US" sz="1100" dirty="0">
                <a:solidFill>
                  <a:srgbClr val="383838"/>
                </a:solidFill>
                <a:latin typeface="DM Sans" pitchFamily="34" charset="0"/>
                <a:ea typeface="DM Sans" pitchFamily="34" charset="-122"/>
                <a:cs typeface="DM Sans" pitchFamily="34" charset="-120"/>
              </a:rPr>
              <a:t>Bharath B– B.E Artificial Intelligence and Machine Learning, 4</a:t>
            </a:r>
            <a:r>
              <a:rPr lang="en-US" sz="1100" baseline="30000" dirty="0">
                <a:solidFill>
                  <a:srgbClr val="383838"/>
                </a:solidFill>
                <a:latin typeface="DM Sans" pitchFamily="34" charset="0"/>
                <a:ea typeface="DM Sans" pitchFamily="34" charset="-122"/>
                <a:cs typeface="DM Sans" pitchFamily="34" charset="-120"/>
              </a:rPr>
              <a:t>th</a:t>
            </a:r>
            <a:r>
              <a:rPr lang="en-US" sz="1100" dirty="0">
                <a:solidFill>
                  <a:srgbClr val="383838"/>
                </a:solidFill>
                <a:latin typeface="DM Sans" pitchFamily="34" charset="0"/>
                <a:ea typeface="DM Sans" pitchFamily="34" charset="-122"/>
                <a:cs typeface="DM Sans" pitchFamily="34" charset="-120"/>
              </a:rPr>
              <a:t> Year</a:t>
            </a:r>
          </a:p>
          <a:p>
            <a:pPr marL="0" indent="0">
              <a:lnSpc>
                <a:spcPct val="133000"/>
              </a:lnSpc>
              <a:buNone/>
            </a:pPr>
            <a:r>
              <a:rPr lang="en-US" sz="1100" dirty="0">
                <a:solidFill>
                  <a:srgbClr val="383838"/>
                </a:solidFill>
                <a:latin typeface="DM Sans" pitchFamily="34" charset="0"/>
                <a:ea typeface="DM Sans" pitchFamily="34" charset="-122"/>
                <a:cs typeface="DM Sans" pitchFamily="34" charset="-120"/>
              </a:rPr>
              <a:t> </a:t>
            </a:r>
          </a:p>
          <a:p>
            <a:pPr marL="0" indent="0">
              <a:lnSpc>
                <a:spcPct val="133000"/>
              </a:lnSpc>
              <a:buNone/>
            </a:pP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349" y="379586"/>
            <a:ext cx="7305154" cy="357336"/>
          </a:xfrm>
          <a:prstGeom prst="rect">
            <a:avLst/>
          </a:prstGeom>
          <a:noFill/>
          <a:ln/>
        </p:spPr>
        <p:txBody>
          <a:bodyPr wrap="none" lIns="0" tIns="0" rIns="0" bIns="0" rtlCol="0" anchor="t"/>
          <a:lstStyle/>
          <a:p>
            <a:pPr marL="0" indent="0" algn="l">
              <a:lnSpc>
                <a:spcPct val="104000"/>
              </a:lnSpc>
              <a:buNone/>
            </a:pPr>
            <a:r>
              <a:rPr lang="en-US" sz="2250" dirty="0">
                <a:solidFill>
                  <a:srgbClr val="0C0D0F"/>
                </a:solidFill>
                <a:latin typeface="PT Serif" panose="020A0603040505020204" pitchFamily="18" charset="0"/>
                <a:ea typeface="Inter" pitchFamily="34" charset="-122"/>
                <a:cs typeface="Inter" pitchFamily="34" charset="-120"/>
              </a:rPr>
              <a:t>The Problem: Knowledge Is Trapped in Documents</a:t>
            </a:r>
            <a:endParaRPr lang="en-US" sz="2250" dirty="0">
              <a:latin typeface="PT Serif" panose="020A0603040505020204" pitchFamily="18" charset="0"/>
            </a:endParaRPr>
          </a:p>
        </p:txBody>
      </p:sp>
      <p:sp>
        <p:nvSpPr>
          <p:cNvPr id="3" name="Text 1"/>
          <p:cNvSpPr/>
          <p:nvPr/>
        </p:nvSpPr>
        <p:spPr>
          <a:xfrm>
            <a:off x="457349" y="947738"/>
            <a:ext cx="8229302" cy="351681"/>
          </a:xfrm>
          <a:prstGeom prst="rect">
            <a:avLst/>
          </a:prstGeom>
          <a:noFill/>
          <a:ln/>
        </p:spPr>
        <p:txBody>
          <a:bodyPr wrap="square" lIns="0" tIns="0" rIns="0" bIns="0" rtlCol="0" anchor="t">
            <a:normAutofit/>
          </a:bodyPr>
          <a:lstStyle/>
          <a:p>
            <a:pPr marL="0" indent="0" algn="l">
              <a:lnSpc>
                <a:spcPct val="128000"/>
              </a:lnSpc>
              <a:buNone/>
            </a:pPr>
            <a:r>
              <a:rPr lang="en-US" sz="900" dirty="0">
                <a:solidFill>
                  <a:srgbClr val="55575A"/>
                </a:solidFill>
                <a:latin typeface="Manrope" pitchFamily="34" charset="0"/>
                <a:ea typeface="Manrope" pitchFamily="34" charset="-122"/>
                <a:cs typeface="Manrope" pitchFamily="34" charset="-120"/>
              </a:rPr>
              <a:t>Every organization accumulates vast libraries of internal documents — HR policies, IT manuals, finance reports, legal files, project documentation, employee handbooks, and training materials. Yet when employees need specific answers, that knowledge remains buried, fragmented, and difficult to access reliably.</a:t>
            </a:r>
            <a:endParaRPr lang="en-US" sz="9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43061" y="1417960"/>
            <a:ext cx="4076254" cy="1202457"/>
          </a:xfrm>
          <a:prstGeom prst="rect">
            <a:avLst/>
          </a:prstGeom>
        </p:spPr>
      </p:pic>
      <p:sp>
        <p:nvSpPr>
          <p:cNvPr id="5" name="Text 2"/>
          <p:cNvSpPr/>
          <p:nvPr/>
        </p:nvSpPr>
        <p:spPr>
          <a:xfrm>
            <a:off x="628799" y="1546547"/>
            <a:ext cx="1882825" cy="178668"/>
          </a:xfrm>
          <a:prstGeom prst="rect">
            <a:avLst/>
          </a:prstGeom>
          <a:noFill/>
          <a:ln/>
        </p:spPr>
        <p:txBody>
          <a:bodyPr wrap="none" lIns="0" tIns="0" rIns="0" bIns="0" rtlCol="0" anchor="t"/>
          <a:lstStyle/>
          <a:p>
            <a:pPr marL="0" indent="0" algn="l">
              <a:lnSpc>
                <a:spcPct val="104000"/>
              </a:lnSpc>
              <a:buNone/>
            </a:pPr>
            <a:r>
              <a:rPr lang="en-US" sz="1100" dirty="0">
                <a:solidFill>
                  <a:srgbClr val="55575A"/>
                </a:solidFill>
                <a:latin typeface="Inter" pitchFamily="34" charset="0"/>
                <a:ea typeface="Inter" pitchFamily="34" charset="-122"/>
                <a:cs typeface="Inter" pitchFamily="34" charset="-120"/>
              </a:rPr>
              <a:t>Time Lost to Manual Search</a:t>
            </a:r>
            <a:endParaRPr lang="en-US" sz="1100" dirty="0"/>
          </a:p>
        </p:txBody>
      </p:sp>
      <p:sp>
        <p:nvSpPr>
          <p:cNvPr id="6" name="Text 3"/>
          <p:cNvSpPr/>
          <p:nvPr/>
        </p:nvSpPr>
        <p:spPr>
          <a:xfrm>
            <a:off x="628799" y="1788468"/>
            <a:ext cx="3761929" cy="703362"/>
          </a:xfrm>
          <a:prstGeom prst="rect">
            <a:avLst/>
          </a:prstGeom>
          <a:noFill/>
          <a:ln/>
        </p:spPr>
        <p:txBody>
          <a:bodyPr wrap="square" lIns="0" tIns="0" rIns="0" bIns="0" rtlCol="0" anchor="t">
            <a:normAutofit/>
          </a:bodyPr>
          <a:lstStyle/>
          <a:p>
            <a:pPr marL="0" indent="0" algn="l">
              <a:lnSpc>
                <a:spcPct val="128000"/>
              </a:lnSpc>
              <a:buNone/>
            </a:pPr>
            <a:r>
              <a:rPr lang="en-US" sz="900" dirty="0">
                <a:solidFill>
                  <a:srgbClr val="55575A"/>
                </a:solidFill>
                <a:latin typeface="Manrope" pitchFamily="34" charset="0"/>
                <a:ea typeface="Manrope" pitchFamily="34" charset="-122"/>
                <a:cs typeface="Manrope" pitchFamily="34" charset="-120"/>
              </a:rPr>
              <a:t>Employees waste significant time manually opening, scrolling through, and searching across PDFs, DOCX files, and TXT documents — often without finding the right answer. Repetitive queries drain productivity across the entire organization.</a:t>
            </a:r>
            <a:endParaRPr lang="en-US" sz="9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10398" y="1417960"/>
            <a:ext cx="4076254" cy="1202457"/>
          </a:xfrm>
          <a:prstGeom prst="rect">
            <a:avLst/>
          </a:prstGeom>
        </p:spPr>
      </p:pic>
      <p:sp>
        <p:nvSpPr>
          <p:cNvPr id="8" name="Text 4"/>
          <p:cNvSpPr/>
          <p:nvPr/>
        </p:nvSpPr>
        <p:spPr>
          <a:xfrm>
            <a:off x="4796135" y="1546547"/>
            <a:ext cx="1999208" cy="178668"/>
          </a:xfrm>
          <a:prstGeom prst="rect">
            <a:avLst/>
          </a:prstGeom>
          <a:noFill/>
          <a:ln/>
        </p:spPr>
        <p:txBody>
          <a:bodyPr wrap="none" lIns="0" tIns="0" rIns="0" bIns="0" rtlCol="0" anchor="t"/>
          <a:lstStyle/>
          <a:p>
            <a:pPr marL="0" indent="0" algn="l">
              <a:lnSpc>
                <a:spcPct val="104000"/>
              </a:lnSpc>
              <a:buNone/>
            </a:pPr>
            <a:r>
              <a:rPr lang="en-US" sz="1100" dirty="0">
                <a:solidFill>
                  <a:srgbClr val="55575A"/>
                </a:solidFill>
                <a:latin typeface="Inter" pitchFamily="34" charset="0"/>
                <a:ea typeface="Inter" pitchFamily="34" charset="-122"/>
                <a:cs typeface="Inter" pitchFamily="34" charset="-120"/>
              </a:rPr>
              <a:t>Answers Hidden in Long Files</a:t>
            </a:r>
            <a:endParaRPr lang="en-US" sz="1100" dirty="0"/>
          </a:p>
        </p:txBody>
      </p:sp>
      <p:sp>
        <p:nvSpPr>
          <p:cNvPr id="9" name="Text 5"/>
          <p:cNvSpPr/>
          <p:nvPr/>
        </p:nvSpPr>
        <p:spPr>
          <a:xfrm>
            <a:off x="4796135" y="1788468"/>
            <a:ext cx="3761929" cy="527521"/>
          </a:xfrm>
          <a:prstGeom prst="rect">
            <a:avLst/>
          </a:prstGeom>
          <a:noFill/>
          <a:ln/>
        </p:spPr>
        <p:txBody>
          <a:bodyPr wrap="square" lIns="0" tIns="0" rIns="0" bIns="0" rtlCol="0" anchor="t">
            <a:normAutofit fontScale="92500"/>
          </a:bodyPr>
          <a:lstStyle/>
          <a:p>
            <a:pPr marL="0" indent="0" algn="l">
              <a:lnSpc>
                <a:spcPct val="128000"/>
              </a:lnSpc>
              <a:buNone/>
            </a:pPr>
            <a:r>
              <a:rPr lang="en-US" sz="900" dirty="0">
                <a:solidFill>
                  <a:srgbClr val="55575A"/>
                </a:solidFill>
                <a:latin typeface="Manrope" pitchFamily="34" charset="0"/>
                <a:ea typeface="Manrope" pitchFamily="34" charset="-122"/>
                <a:cs typeface="Manrope" pitchFamily="34" charset="-120"/>
              </a:rPr>
              <a:t>Critical information is frequently buried deep inside lengthy documents. A single policy may span 80 pages, with the relevant clause on page 47 — invisible to anyone who doesn't already know where to look.</a:t>
            </a:r>
            <a:endParaRPr lang="en-US" sz="90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43061" y="2725787"/>
            <a:ext cx="4076254" cy="1202457"/>
          </a:xfrm>
          <a:prstGeom prst="rect">
            <a:avLst/>
          </a:prstGeom>
        </p:spPr>
      </p:pic>
      <p:sp>
        <p:nvSpPr>
          <p:cNvPr id="11" name="Text 6"/>
          <p:cNvSpPr/>
          <p:nvPr/>
        </p:nvSpPr>
        <p:spPr>
          <a:xfrm>
            <a:off x="628799" y="2854375"/>
            <a:ext cx="2400300" cy="178668"/>
          </a:xfrm>
          <a:prstGeom prst="rect">
            <a:avLst/>
          </a:prstGeom>
          <a:noFill/>
          <a:ln/>
        </p:spPr>
        <p:txBody>
          <a:bodyPr wrap="none" lIns="0" tIns="0" rIns="0" bIns="0" rtlCol="0" anchor="t"/>
          <a:lstStyle/>
          <a:p>
            <a:pPr marL="0" indent="0" algn="l">
              <a:lnSpc>
                <a:spcPct val="104000"/>
              </a:lnSpc>
              <a:buNone/>
            </a:pPr>
            <a:r>
              <a:rPr lang="en-US" sz="1100" dirty="0">
                <a:solidFill>
                  <a:srgbClr val="55575A"/>
                </a:solidFill>
                <a:latin typeface="Inter" pitchFamily="34" charset="0"/>
                <a:ea typeface="Inter" pitchFamily="34" charset="-122"/>
                <a:cs typeface="Inter" pitchFamily="34" charset="-120"/>
              </a:rPr>
              <a:t>Duplicate and Outdated Documents</a:t>
            </a:r>
            <a:endParaRPr lang="en-US" sz="1100" dirty="0"/>
          </a:p>
        </p:txBody>
      </p:sp>
      <p:sp>
        <p:nvSpPr>
          <p:cNvPr id="12" name="Text 7"/>
          <p:cNvSpPr/>
          <p:nvPr/>
        </p:nvSpPr>
        <p:spPr>
          <a:xfrm>
            <a:off x="628799" y="3096295"/>
            <a:ext cx="3761929" cy="703362"/>
          </a:xfrm>
          <a:prstGeom prst="rect">
            <a:avLst/>
          </a:prstGeom>
          <a:noFill/>
          <a:ln/>
        </p:spPr>
        <p:txBody>
          <a:bodyPr wrap="square" lIns="0" tIns="0" rIns="0" bIns="0" rtlCol="0" anchor="t">
            <a:normAutofit/>
          </a:bodyPr>
          <a:lstStyle/>
          <a:p>
            <a:pPr marL="0" indent="0" algn="l">
              <a:lnSpc>
                <a:spcPct val="128000"/>
              </a:lnSpc>
              <a:buNone/>
            </a:pPr>
            <a:r>
              <a:rPr lang="en-US" sz="900" dirty="0">
                <a:solidFill>
                  <a:srgbClr val="55575A"/>
                </a:solidFill>
                <a:latin typeface="Manrope" pitchFamily="34" charset="0"/>
                <a:ea typeface="Manrope" pitchFamily="34" charset="-122"/>
                <a:cs typeface="Manrope" pitchFamily="34" charset="-120"/>
              </a:rPr>
              <a:t>Without centralized version control, multiple versions of the same policy circulate simultaneously. Employees cannot easily determine which document is the current source of truth, leading to inconsistent decisions and compliance risk.</a:t>
            </a:r>
            <a:endParaRPr lang="en-US" sz="900" dirty="0"/>
          </a:p>
        </p:txBody>
      </p:sp>
      <p:pic>
        <p:nvPicPr>
          <p:cNvPr id="13"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10398" y="2725787"/>
            <a:ext cx="4076254" cy="1202457"/>
          </a:xfrm>
          <a:prstGeom prst="rect">
            <a:avLst/>
          </a:prstGeom>
        </p:spPr>
      </p:pic>
      <p:sp>
        <p:nvSpPr>
          <p:cNvPr id="14" name="Text 8"/>
          <p:cNvSpPr/>
          <p:nvPr/>
        </p:nvSpPr>
        <p:spPr>
          <a:xfrm>
            <a:off x="4796135" y="2854375"/>
            <a:ext cx="2047577" cy="178668"/>
          </a:xfrm>
          <a:prstGeom prst="rect">
            <a:avLst/>
          </a:prstGeom>
          <a:noFill/>
          <a:ln/>
        </p:spPr>
        <p:txBody>
          <a:bodyPr wrap="none" lIns="0" tIns="0" rIns="0" bIns="0" rtlCol="0" anchor="t"/>
          <a:lstStyle/>
          <a:p>
            <a:pPr marL="0" indent="0" algn="l">
              <a:lnSpc>
                <a:spcPct val="104000"/>
              </a:lnSpc>
              <a:buNone/>
            </a:pPr>
            <a:r>
              <a:rPr lang="en-US" sz="1100" dirty="0">
                <a:solidFill>
                  <a:srgbClr val="55575A"/>
                </a:solidFill>
                <a:latin typeface="Inter" pitchFamily="34" charset="0"/>
                <a:ea typeface="Inter" pitchFamily="34" charset="-122"/>
                <a:cs typeface="Inter" pitchFamily="34" charset="-120"/>
              </a:rPr>
              <a:t>No Visibility for Administrators</a:t>
            </a:r>
            <a:endParaRPr lang="en-US" sz="1100" dirty="0"/>
          </a:p>
        </p:txBody>
      </p:sp>
      <p:sp>
        <p:nvSpPr>
          <p:cNvPr id="15" name="Text 9"/>
          <p:cNvSpPr/>
          <p:nvPr/>
        </p:nvSpPr>
        <p:spPr>
          <a:xfrm>
            <a:off x="4796135" y="3096295"/>
            <a:ext cx="3761929" cy="703362"/>
          </a:xfrm>
          <a:prstGeom prst="rect">
            <a:avLst/>
          </a:prstGeom>
          <a:noFill/>
          <a:ln/>
        </p:spPr>
        <p:txBody>
          <a:bodyPr wrap="square" lIns="0" tIns="0" rIns="0" bIns="0" rtlCol="0" anchor="t">
            <a:normAutofit/>
          </a:bodyPr>
          <a:lstStyle/>
          <a:p>
            <a:pPr marL="0" indent="0" algn="l">
              <a:lnSpc>
                <a:spcPct val="128000"/>
              </a:lnSpc>
              <a:buNone/>
            </a:pPr>
            <a:r>
              <a:rPr lang="en-US" sz="900" dirty="0">
                <a:solidFill>
                  <a:srgbClr val="55575A"/>
                </a:solidFill>
                <a:latin typeface="Manrope" pitchFamily="34" charset="0"/>
                <a:ea typeface="Manrope" pitchFamily="34" charset="-122"/>
                <a:cs typeface="Manrope" pitchFamily="34" charset="-120"/>
              </a:rPr>
              <a:t>Admins have no clear view of what users are searching for, which documents are most accessed, or where knowledge gaps exist. This makes it impossible to proactively improve the quality and completeness of the knowledge base.</a:t>
            </a:r>
            <a:endParaRPr lang="en-US" sz="900" dirty="0"/>
          </a:p>
        </p:txBody>
      </p:sp>
      <p:sp>
        <p:nvSpPr>
          <p:cNvPr id="16" name="Shape 10"/>
          <p:cNvSpPr/>
          <p:nvPr/>
        </p:nvSpPr>
        <p:spPr>
          <a:xfrm>
            <a:off x="457349" y="4046786"/>
            <a:ext cx="8229302" cy="598587"/>
          </a:xfrm>
          <a:prstGeom prst="roundRect">
            <a:avLst>
              <a:gd name="adj" fmla="val 17194"/>
            </a:avLst>
          </a:prstGeom>
          <a:solidFill>
            <a:srgbClr val="FCF2B5"/>
          </a:solidFill>
          <a:ln/>
        </p:spPr>
        <p:txBody>
          <a:bodyPr/>
          <a:lstStyle/>
          <a:p>
            <a:endParaRPr/>
          </a:p>
        </p:txBody>
      </p:sp>
      <p:pic>
        <p:nvPicPr>
          <p:cNvPr id="17" name="Image 4" descr="preencoded.png"/>
          <p:cNvPicPr>
            <a:picLocks noChangeAspect="1"/>
          </p:cNvPicPr>
          <p:nvPr/>
        </p:nvPicPr>
        <p:blipFill>
          <a:blip r:embed="rId4"/>
          <a:stretch>
            <a:fillRect/>
          </a:stretch>
        </p:blipFill>
        <p:spPr>
          <a:xfrm>
            <a:off x="571649" y="4203948"/>
            <a:ext cx="142875" cy="114300"/>
          </a:xfrm>
          <a:prstGeom prst="rect">
            <a:avLst/>
          </a:prstGeom>
        </p:spPr>
      </p:pic>
      <p:sp>
        <p:nvSpPr>
          <p:cNvPr id="18" name="Text 11"/>
          <p:cNvSpPr/>
          <p:nvPr/>
        </p:nvSpPr>
        <p:spPr>
          <a:xfrm>
            <a:off x="828824" y="4170238"/>
            <a:ext cx="7743527" cy="351681"/>
          </a:xfrm>
          <a:prstGeom prst="rect">
            <a:avLst/>
          </a:prstGeom>
          <a:noFill/>
          <a:ln/>
        </p:spPr>
        <p:txBody>
          <a:bodyPr wrap="square" lIns="0" tIns="0" rIns="0" bIns="0" rtlCol="0" anchor="t">
            <a:normAutofit lnSpcReduction="10000"/>
          </a:bodyPr>
          <a:lstStyle/>
          <a:p>
            <a:pPr marL="0" indent="0" algn="l">
              <a:lnSpc>
                <a:spcPct val="128000"/>
              </a:lnSpc>
              <a:buNone/>
            </a:pPr>
            <a:r>
              <a:rPr lang="en-US" sz="1000" b="1" dirty="0">
                <a:solidFill>
                  <a:srgbClr val="000000"/>
                </a:solidFill>
                <a:latin typeface="Arial" panose="020B0604020202020204" pitchFamily="34" charset="0"/>
                <a:ea typeface="Manrope" pitchFamily="34" charset="-122"/>
                <a:cs typeface="Arial" panose="020B0604020202020204" pitchFamily="34" charset="0"/>
              </a:rPr>
              <a:t>Key message:</a:t>
            </a:r>
            <a:r>
              <a:rPr lang="en-US" sz="1000" dirty="0">
                <a:solidFill>
                  <a:srgbClr val="000000"/>
                </a:solidFill>
                <a:latin typeface="Arial" panose="020B0604020202020204" pitchFamily="34" charset="0"/>
                <a:ea typeface="Manrope" pitchFamily="34" charset="-122"/>
                <a:cs typeface="Arial" panose="020B0604020202020204" pitchFamily="34" charset="0"/>
              </a:rPr>
              <a:t> Finding the right information from company documents is slow, repetitive, and unreliable — costing organizations time, accuracy, and confidence.</a:t>
            </a:r>
            <a:endParaRPr lang="en-US" sz="1000" dirty="0">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72901" y="354137"/>
            <a:ext cx="3412927" cy="369466"/>
          </a:xfrm>
          <a:prstGeom prst="rect">
            <a:avLst/>
          </a:prstGeom>
          <a:noFill/>
          <a:ln/>
        </p:spPr>
        <p:txBody>
          <a:bodyPr wrap="none" lIns="0" tIns="0" rIns="0" bIns="0" rtlCol="0" anchor="t"/>
          <a:lstStyle/>
          <a:p>
            <a:pPr marL="0" indent="0" algn="l">
              <a:lnSpc>
                <a:spcPct val="104000"/>
              </a:lnSpc>
              <a:buNone/>
            </a:pPr>
            <a:r>
              <a:rPr lang="en-US" sz="2300" dirty="0">
                <a:solidFill>
                  <a:srgbClr val="0C0D0F"/>
                </a:solidFill>
                <a:latin typeface="PT Serif" panose="020A0603040505020204" pitchFamily="18" charset="0"/>
                <a:ea typeface="Inter" pitchFamily="34" charset="-122"/>
                <a:cs typeface="Inter" pitchFamily="34" charset="-120"/>
              </a:rPr>
              <a:t>DocAI: The Solution</a:t>
            </a:r>
            <a:endParaRPr lang="en-US" sz="2300" dirty="0">
              <a:latin typeface="PT Serif" panose="020A0603040505020204" pitchFamily="18" charset="0"/>
            </a:endParaRPr>
          </a:p>
        </p:txBody>
      </p:sp>
      <p:sp>
        <p:nvSpPr>
          <p:cNvPr id="3" name="Text 1"/>
          <p:cNvSpPr/>
          <p:nvPr/>
        </p:nvSpPr>
        <p:spPr>
          <a:xfrm>
            <a:off x="472901" y="948928"/>
            <a:ext cx="8198197" cy="554087"/>
          </a:xfrm>
          <a:prstGeom prst="rect">
            <a:avLst/>
          </a:prstGeom>
          <a:noFill/>
          <a:ln/>
        </p:spPr>
        <p:txBody>
          <a:bodyPr wrap="square" lIns="0" tIns="0" rIns="0" bIns="0" rtlCol="0" anchor="t">
            <a:normAutofit/>
          </a:bodyPr>
          <a:lstStyle/>
          <a:p>
            <a:pPr marL="0" indent="0" algn="l">
              <a:lnSpc>
                <a:spcPct val="130000"/>
              </a:lnSpc>
              <a:buNone/>
            </a:pPr>
            <a:r>
              <a:rPr lang="en-US" sz="900" dirty="0">
                <a:solidFill>
                  <a:srgbClr val="55575A"/>
                </a:solidFill>
                <a:latin typeface="Manrope" pitchFamily="34" charset="0"/>
                <a:ea typeface="Manrope" pitchFamily="34" charset="-122"/>
                <a:cs typeface="Manrope" pitchFamily="34" charset="-120"/>
              </a:rPr>
              <a:t>DocAI is an AI-powered enterprise platform that converts scattered company documents into a trusted, searchable knowledge system. Rather than manually hunting through files, employees ask natural language questions and receive clear, citation-backed answers drawn directly from the organization's document library.</a:t>
            </a:r>
            <a:endParaRPr lang="en-US" sz="900" dirty="0"/>
          </a:p>
        </p:txBody>
      </p:sp>
      <p:sp>
        <p:nvSpPr>
          <p:cNvPr id="4" name="Shape 2"/>
          <p:cNvSpPr/>
          <p:nvPr/>
        </p:nvSpPr>
        <p:spPr>
          <a:xfrm>
            <a:off x="387772" y="1629742"/>
            <a:ext cx="4125144" cy="2274987"/>
          </a:xfrm>
          <a:prstGeom prst="roundRect">
            <a:avLst>
              <a:gd name="adj" fmla="val 7484"/>
            </a:avLst>
          </a:prstGeom>
          <a:noFill/>
          <a:ln>
            <a:solidFill>
              <a:schemeClr val="accent2">
                <a:lumMod val="75000"/>
              </a:schemeClr>
            </a:solidFill>
          </a:ln>
        </p:spPr>
        <p:txBody>
          <a:bodyPr/>
          <a:lstStyle/>
          <a:p>
            <a:endParaRPr/>
          </a:p>
        </p:txBody>
      </p:sp>
      <p:sp>
        <p:nvSpPr>
          <p:cNvPr id="5" name="Text 3"/>
          <p:cNvSpPr/>
          <p:nvPr/>
        </p:nvSpPr>
        <p:spPr>
          <a:xfrm>
            <a:off x="505941" y="1742405"/>
            <a:ext cx="1935063" cy="184696"/>
          </a:xfrm>
          <a:prstGeom prst="rect">
            <a:avLst/>
          </a:prstGeom>
          <a:noFill/>
          <a:ln/>
        </p:spPr>
        <p:txBody>
          <a:bodyPr wrap="none" lIns="0" tIns="0" rIns="0" bIns="0" rtlCol="0" anchor="t"/>
          <a:lstStyle/>
          <a:p>
            <a:pPr marL="0" indent="0" algn="l">
              <a:lnSpc>
                <a:spcPct val="104000"/>
              </a:lnSpc>
              <a:buNone/>
            </a:pPr>
            <a:r>
              <a:rPr lang="en-US" sz="1150" dirty="0">
                <a:solidFill>
                  <a:srgbClr val="0C0D0F"/>
                </a:solidFill>
                <a:latin typeface="Inter" pitchFamily="34" charset="0"/>
                <a:ea typeface="Inter" pitchFamily="34" charset="-122"/>
                <a:cs typeface="Inter" pitchFamily="34" charset="-120"/>
              </a:rPr>
              <a:t>What DocAI Enables</a:t>
            </a:r>
            <a:endParaRPr lang="en-US" sz="1150" dirty="0"/>
          </a:p>
        </p:txBody>
      </p:sp>
      <p:sp>
        <p:nvSpPr>
          <p:cNvPr id="6" name="Text 4"/>
          <p:cNvSpPr/>
          <p:nvPr/>
        </p:nvSpPr>
        <p:spPr>
          <a:xfrm>
            <a:off x="505941" y="2039764"/>
            <a:ext cx="3888804" cy="1305371"/>
          </a:xfrm>
          <a:prstGeom prst="rect">
            <a:avLst/>
          </a:prstGeom>
          <a:noFill/>
          <a:ln/>
        </p:spPr>
        <p:txBody>
          <a:bodyPr wrap="square" lIns="0" tIns="0" rIns="0" bIns="0" rtlCol="0" anchor="t">
            <a:normAutofit/>
          </a:bodyPr>
          <a:lstStyle/>
          <a:p>
            <a:pPr marL="342900" indent="-342900" algn="l">
              <a:lnSpc>
                <a:spcPct val="130000"/>
              </a:lnSpc>
              <a:buSzPct val="100000"/>
              <a:buChar char="•"/>
            </a:pPr>
            <a:r>
              <a:rPr lang="en-US" sz="900" dirty="0">
                <a:solidFill>
                  <a:srgbClr val="000000"/>
                </a:solidFill>
                <a:latin typeface="Manrope" pitchFamily="34" charset="0"/>
                <a:ea typeface="Manrope" pitchFamily="34" charset="-122"/>
                <a:cs typeface="Manrope" pitchFamily="34" charset="-120"/>
              </a:rPr>
              <a:t>Upload new documents or query from already indexed files</a:t>
            </a:r>
            <a:endParaRPr lang="en-US" sz="900" dirty="0"/>
          </a:p>
          <a:p>
            <a:pPr marL="342900" indent="-342900" algn="l">
              <a:lnSpc>
                <a:spcPct val="130000"/>
              </a:lnSpc>
              <a:buSzPct val="100000"/>
              <a:buChar char="•"/>
            </a:pPr>
            <a:r>
              <a:rPr lang="en-US" sz="900" dirty="0">
                <a:solidFill>
                  <a:srgbClr val="000000"/>
                </a:solidFill>
                <a:latin typeface="Manrope" pitchFamily="34" charset="0"/>
                <a:ea typeface="Manrope" pitchFamily="34" charset="-122"/>
                <a:cs typeface="Manrope" pitchFamily="34" charset="-120"/>
              </a:rPr>
              <a:t>Ask questions in plain, natural language</a:t>
            </a:r>
            <a:endParaRPr lang="en-US" sz="900" dirty="0"/>
          </a:p>
          <a:p>
            <a:pPr marL="342900" indent="-342900" algn="l">
              <a:lnSpc>
                <a:spcPct val="130000"/>
              </a:lnSpc>
              <a:buSzPct val="100000"/>
              <a:buChar char="•"/>
            </a:pPr>
            <a:r>
              <a:rPr lang="en-US" sz="900" dirty="0">
                <a:solidFill>
                  <a:srgbClr val="000000"/>
                </a:solidFill>
                <a:latin typeface="Manrope" pitchFamily="34" charset="0"/>
                <a:ea typeface="Manrope" pitchFamily="34" charset="-122"/>
                <a:cs typeface="Manrope" pitchFamily="34" charset="-120"/>
              </a:rPr>
              <a:t>Receive clear, structured answers with source citations</a:t>
            </a:r>
            <a:endParaRPr lang="en-US" sz="900" dirty="0"/>
          </a:p>
          <a:p>
            <a:pPr marL="342900" indent="-342900" algn="l">
              <a:lnSpc>
                <a:spcPct val="130000"/>
              </a:lnSpc>
              <a:buSzPct val="100000"/>
              <a:buChar char="•"/>
            </a:pPr>
            <a:r>
              <a:rPr lang="en-US" sz="900" dirty="0">
                <a:solidFill>
                  <a:srgbClr val="000000"/>
                </a:solidFill>
                <a:latin typeface="Manrope" pitchFamily="34" charset="0"/>
                <a:ea typeface="Manrope" pitchFamily="34" charset="-122"/>
                <a:cs typeface="Manrope" pitchFamily="34" charset="-120"/>
              </a:rPr>
              <a:t>Download the original source document for full reference</a:t>
            </a:r>
            <a:endParaRPr lang="en-US" sz="900" dirty="0"/>
          </a:p>
          <a:p>
            <a:pPr marL="342900" indent="-342900" algn="l">
              <a:lnSpc>
                <a:spcPct val="130000"/>
              </a:lnSpc>
              <a:buSzPct val="100000"/>
              <a:buChar char="•"/>
            </a:pPr>
            <a:r>
              <a:rPr lang="en-US" sz="900" dirty="0">
                <a:solidFill>
                  <a:srgbClr val="000000"/>
                </a:solidFill>
                <a:latin typeface="Manrope" pitchFamily="34" charset="0"/>
                <a:ea typeface="Manrope" pitchFamily="34" charset="-122"/>
                <a:cs typeface="Manrope" pitchFamily="34" charset="-120"/>
              </a:rPr>
              <a:t>Maintain a personal search history for continuity</a:t>
            </a:r>
            <a:endParaRPr lang="en-US" sz="900" dirty="0"/>
          </a:p>
          <a:p>
            <a:pPr marL="342900" indent="-342900" algn="l">
              <a:lnSpc>
                <a:spcPct val="130000"/>
              </a:lnSpc>
              <a:buSzPct val="100000"/>
              <a:buChar char="•"/>
            </a:pPr>
            <a:r>
              <a:rPr lang="en-US" sz="900" dirty="0">
                <a:solidFill>
                  <a:srgbClr val="000000"/>
                </a:solidFill>
                <a:latin typeface="Manrope" pitchFamily="34" charset="0"/>
                <a:ea typeface="Manrope" pitchFamily="34" charset="-122"/>
                <a:cs typeface="Manrope" pitchFamily="34" charset="-120"/>
              </a:rPr>
              <a:t>Help admins monitor usage patterns and document quality</a:t>
            </a:r>
            <a:endParaRPr lang="en-US" sz="900" dirty="0"/>
          </a:p>
        </p:txBody>
      </p:sp>
      <p:sp>
        <p:nvSpPr>
          <p:cNvPr id="7" name="Text 5"/>
          <p:cNvSpPr/>
          <p:nvPr/>
        </p:nvSpPr>
        <p:spPr>
          <a:xfrm>
            <a:off x="4720977" y="1742405"/>
            <a:ext cx="2534841" cy="184696"/>
          </a:xfrm>
          <a:prstGeom prst="rect">
            <a:avLst/>
          </a:prstGeom>
          <a:noFill/>
          <a:ln/>
        </p:spPr>
        <p:txBody>
          <a:bodyPr wrap="none" lIns="0" tIns="0" rIns="0" bIns="0" rtlCol="0" anchor="t"/>
          <a:lstStyle/>
          <a:p>
            <a:pPr marL="0" indent="0" algn="l">
              <a:lnSpc>
                <a:spcPct val="104000"/>
              </a:lnSpc>
              <a:buNone/>
            </a:pPr>
            <a:r>
              <a:rPr lang="en-US" sz="1150" dirty="0">
                <a:solidFill>
                  <a:srgbClr val="0C0D0F"/>
                </a:solidFill>
                <a:latin typeface="Inter" pitchFamily="34" charset="0"/>
                <a:ea typeface="Inter" pitchFamily="34" charset="-122"/>
                <a:cs typeface="Inter" pitchFamily="34" charset="-120"/>
              </a:rPr>
              <a:t>How It Changes the Workflow</a:t>
            </a:r>
            <a:endParaRPr lang="en-US" sz="1150" dirty="0"/>
          </a:p>
        </p:txBody>
      </p:sp>
      <p:sp>
        <p:nvSpPr>
          <p:cNvPr id="8" name="Text 6"/>
          <p:cNvSpPr/>
          <p:nvPr/>
        </p:nvSpPr>
        <p:spPr>
          <a:xfrm>
            <a:off x="4720977" y="2039764"/>
            <a:ext cx="3954884" cy="1763613"/>
          </a:xfrm>
          <a:prstGeom prst="rect">
            <a:avLst/>
          </a:prstGeom>
          <a:noFill/>
          <a:ln/>
        </p:spPr>
        <p:txBody>
          <a:bodyPr wrap="square" lIns="0" tIns="0" rIns="0" bIns="0" rtlCol="0" anchor="t">
            <a:normAutofit/>
          </a:bodyPr>
          <a:lstStyle/>
          <a:p>
            <a:pPr marL="0" indent="0" algn="l">
              <a:lnSpc>
                <a:spcPct val="130000"/>
              </a:lnSpc>
              <a:buNone/>
            </a:pPr>
            <a:r>
              <a:rPr lang="en-US" sz="900" dirty="0">
                <a:solidFill>
                  <a:srgbClr val="55575A"/>
                </a:solidFill>
                <a:latin typeface="Manrope" pitchFamily="34" charset="0"/>
                <a:ea typeface="Manrope" pitchFamily="34" charset="-122"/>
                <a:cs typeface="Manrope" pitchFamily="34" charset="-120"/>
              </a:rPr>
              <a:t>Instead of opening a 60-page HR policy and searching for a specific clause, an employee simply asks: </a:t>
            </a:r>
            <a:r>
              <a:rPr lang="en-US" sz="900" i="1" dirty="0">
                <a:solidFill>
                  <a:srgbClr val="55575A"/>
                </a:solidFill>
                <a:latin typeface="Manrope" pitchFamily="34" charset="0"/>
                <a:ea typeface="Manrope" pitchFamily="34" charset="-122"/>
                <a:cs typeface="Manrope" pitchFamily="34" charset="-120"/>
              </a:rPr>
              <a:t>"What is the leave approval process?"</a:t>
            </a:r>
            <a:r>
              <a:rPr lang="en-US" sz="900" dirty="0">
                <a:solidFill>
                  <a:srgbClr val="55575A"/>
                </a:solidFill>
                <a:latin typeface="Manrope" pitchFamily="34" charset="0"/>
                <a:ea typeface="Manrope" pitchFamily="34" charset="-122"/>
                <a:cs typeface="Manrope" pitchFamily="34" charset="-120"/>
              </a:rPr>
              <a:t> DocAI locates the relevant section, extracts the answer, cites the source document and page, and presents a clear response in seconds.</a:t>
            </a:r>
            <a:endParaRPr lang="en-US" sz="900" dirty="0"/>
          </a:p>
          <a:p>
            <a:pPr marL="0" indent="0" algn="l">
              <a:lnSpc>
                <a:spcPct val="130000"/>
              </a:lnSpc>
              <a:buNone/>
            </a:pPr>
            <a:r>
              <a:rPr lang="en-US" sz="900" dirty="0">
                <a:solidFill>
                  <a:srgbClr val="55575A"/>
                </a:solidFill>
                <a:latin typeface="Manrope" pitchFamily="34" charset="0"/>
                <a:ea typeface="Manrope" pitchFamily="34" charset="-122"/>
                <a:cs typeface="Manrope" pitchFamily="34" charset="-120"/>
              </a:rPr>
              <a:t>DocAI works across all document types — PDF, DOCX, and TXT — and supports both newly uploaded files and previously stored documents already in the knowledge base. It is designed not just for basic chat, but for practical, enterprise-grade document retrieval where accuracy and traceability matter.</a:t>
            </a:r>
            <a:endParaRPr lang="en-US" sz="900" dirty="0"/>
          </a:p>
        </p:txBody>
      </p:sp>
      <p:sp>
        <p:nvSpPr>
          <p:cNvPr id="9" name="Shape 7"/>
          <p:cNvSpPr/>
          <p:nvPr/>
        </p:nvSpPr>
        <p:spPr>
          <a:xfrm>
            <a:off x="472901" y="4031456"/>
            <a:ext cx="8198197" cy="631180"/>
          </a:xfrm>
          <a:prstGeom prst="roundRect">
            <a:avLst>
              <a:gd name="adj" fmla="val 16859"/>
            </a:avLst>
          </a:prstGeom>
          <a:solidFill>
            <a:srgbClr val="B6FCB8"/>
          </a:solidFill>
          <a:ln/>
        </p:spPr>
        <p:txBody>
          <a:bodyPr/>
          <a:lstStyle/>
          <a:p>
            <a:endParaRPr/>
          </a:p>
        </p:txBody>
      </p:sp>
      <p:pic>
        <p:nvPicPr>
          <p:cNvPr id="10" name="Image 0" descr="preencoded.png"/>
          <p:cNvPicPr>
            <a:picLocks noChangeAspect="1"/>
          </p:cNvPicPr>
          <p:nvPr/>
        </p:nvPicPr>
        <p:blipFill>
          <a:blip r:embed="rId3"/>
          <a:stretch>
            <a:fillRect/>
          </a:stretch>
        </p:blipFill>
        <p:spPr>
          <a:xfrm>
            <a:off x="591071" y="4199558"/>
            <a:ext cx="147786" cy="118170"/>
          </a:xfrm>
          <a:prstGeom prst="rect">
            <a:avLst/>
          </a:prstGeom>
        </p:spPr>
      </p:pic>
      <p:sp>
        <p:nvSpPr>
          <p:cNvPr id="11" name="Text 8"/>
          <p:cNvSpPr/>
          <p:nvPr/>
        </p:nvSpPr>
        <p:spPr>
          <a:xfrm>
            <a:off x="857027" y="4162351"/>
            <a:ext cx="7695902" cy="369391"/>
          </a:xfrm>
          <a:prstGeom prst="rect">
            <a:avLst/>
          </a:prstGeom>
          <a:noFill/>
          <a:ln/>
        </p:spPr>
        <p:txBody>
          <a:bodyPr wrap="square" lIns="0" tIns="0" rIns="0" bIns="0" rtlCol="0" anchor="t">
            <a:normAutofit/>
          </a:bodyPr>
          <a:lstStyle/>
          <a:p>
            <a:pPr marL="0" indent="0" algn="l">
              <a:lnSpc>
                <a:spcPct val="130000"/>
              </a:lnSpc>
              <a:buNone/>
            </a:pPr>
            <a:r>
              <a:rPr lang="en-US" sz="900" b="1" dirty="0">
                <a:solidFill>
                  <a:srgbClr val="000000"/>
                </a:solidFill>
                <a:latin typeface="Manrope" pitchFamily="34" charset="0"/>
                <a:ea typeface="Manrope" pitchFamily="34" charset="-122"/>
                <a:cs typeface="Manrope" pitchFamily="34" charset="-120"/>
              </a:rPr>
              <a:t>Key message:</a:t>
            </a:r>
            <a:r>
              <a:rPr lang="en-US" sz="900" dirty="0">
                <a:solidFill>
                  <a:srgbClr val="000000"/>
                </a:solidFill>
                <a:latin typeface="Manrope" pitchFamily="34" charset="0"/>
                <a:ea typeface="Manrope" pitchFamily="34" charset="-122"/>
                <a:cs typeface="Manrope" pitchFamily="34" charset="-120"/>
              </a:rPr>
              <a:t> DocAI converts scattered company documents into a trusted, searchable knowledge system — eliminating manual search and delivering citation-backed answers at scale.</a:t>
            </a:r>
            <a:endParaRPr lang="en-US" sz="900" dirty="0"/>
          </a:p>
        </p:txBody>
      </p:sp>
      <p:sp>
        <p:nvSpPr>
          <p:cNvPr id="12" name="Shape 2">
            <a:extLst>
              <a:ext uri="{FF2B5EF4-FFF2-40B4-BE49-F238E27FC236}">
                <a16:creationId xmlns:a16="http://schemas.microsoft.com/office/drawing/2014/main" id="{42E65812-EA62-D79C-F117-CC5046CB31F9}"/>
              </a:ext>
            </a:extLst>
          </p:cNvPr>
          <p:cNvSpPr/>
          <p:nvPr/>
        </p:nvSpPr>
        <p:spPr>
          <a:xfrm>
            <a:off x="4556110" y="1625293"/>
            <a:ext cx="4125144" cy="2274987"/>
          </a:xfrm>
          <a:prstGeom prst="roundRect">
            <a:avLst>
              <a:gd name="adj" fmla="val 7484"/>
            </a:avLst>
          </a:prstGeom>
          <a:noFill/>
          <a:ln>
            <a:solidFill>
              <a:schemeClr val="accent2">
                <a:lumMod val="75000"/>
              </a:schemeClr>
            </a:solidFill>
          </a:ln>
        </p:spPr>
        <p:txBody>
          <a:bodyPr/>
          <a:lstStyle/>
          <a:p>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133029" y="239837"/>
            <a:ext cx="2637681" cy="272504"/>
          </a:xfrm>
          <a:prstGeom prst="rect">
            <a:avLst/>
          </a:prstGeom>
          <a:noFill/>
          <a:ln/>
        </p:spPr>
        <p:txBody>
          <a:bodyPr wrap="none" lIns="0" tIns="0" rIns="0" bIns="0" rtlCol="0" anchor="t"/>
          <a:lstStyle/>
          <a:p>
            <a:pPr marL="0" indent="0" algn="l">
              <a:lnSpc>
                <a:spcPct val="104000"/>
              </a:lnSpc>
              <a:buNone/>
            </a:pPr>
            <a:r>
              <a:rPr lang="en-US" sz="1700" dirty="0">
                <a:solidFill>
                  <a:srgbClr val="0C0D0F"/>
                </a:solidFill>
                <a:latin typeface="PT Serif" panose="020A0603040505020204" pitchFamily="18" charset="0"/>
                <a:ea typeface="Inter" pitchFamily="34" charset="-122"/>
                <a:cs typeface="Inter" pitchFamily="34" charset="-120"/>
              </a:rPr>
              <a:t>How DocAI Works</a:t>
            </a:r>
            <a:endParaRPr lang="en-US" sz="1700" dirty="0">
              <a:latin typeface="PT Serif" panose="020A0603040505020204" pitchFamily="18" charset="0"/>
            </a:endParaRPr>
          </a:p>
        </p:txBody>
      </p:sp>
      <p:pic>
        <p:nvPicPr>
          <p:cNvPr id="4" name="Image 0" descr="preencoded.png"/>
          <p:cNvPicPr>
            <a:picLocks noChangeAspect="1"/>
          </p:cNvPicPr>
          <p:nvPr/>
        </p:nvPicPr>
        <p:blipFill>
          <a:blip r:embed="rId3"/>
          <a:stretch>
            <a:fillRect/>
          </a:stretch>
        </p:blipFill>
        <p:spPr>
          <a:xfrm>
            <a:off x="1127167" y="778524"/>
            <a:ext cx="6553200" cy="3657600"/>
          </a:xfrm>
          <a:prstGeom prst="rect">
            <a:avLst/>
          </a:prstGeom>
        </p:spPr>
      </p:pic>
      <p:sp>
        <p:nvSpPr>
          <p:cNvPr id="5" name="Text 2"/>
          <p:cNvSpPr/>
          <p:nvPr/>
        </p:nvSpPr>
        <p:spPr>
          <a:xfrm>
            <a:off x="1133029" y="4521525"/>
            <a:ext cx="6877869" cy="237530"/>
          </a:xfrm>
          <a:prstGeom prst="rect">
            <a:avLst/>
          </a:prstGeom>
          <a:noFill/>
          <a:ln/>
        </p:spPr>
        <p:txBody>
          <a:bodyPr wrap="square" lIns="0" tIns="0" rIns="0" bIns="0" rtlCol="0" anchor="t">
            <a:noAutofit/>
          </a:bodyPr>
          <a:lstStyle/>
          <a:p>
            <a:pPr marL="0" indent="0" algn="l">
              <a:lnSpc>
                <a:spcPct val="114000"/>
              </a:lnSpc>
              <a:buNone/>
            </a:pPr>
            <a:r>
              <a:rPr lang="en-US" sz="700" b="1" dirty="0">
                <a:solidFill>
                  <a:srgbClr val="55575A"/>
                </a:solidFill>
                <a:latin typeface="Arial" panose="020B0604020202020204" pitchFamily="34" charset="0"/>
                <a:ea typeface="Manrope" pitchFamily="34" charset="-122"/>
                <a:cs typeface="Arial" panose="020B0604020202020204" pitchFamily="34" charset="0"/>
              </a:rPr>
              <a:t>This end-to-end pipeline ensures that every answer is grounded in actual document evidence. DocAI can respond from newly uploaded documents in real time, or from previously stored and indexed documents already in the knowledge base — making it equally effective for onboarding new content and querying established libraries.</a:t>
            </a:r>
            <a:endParaRPr lang="en-US" sz="700" b="1" dirty="0">
              <a:latin typeface="Arial" panose="020B0604020202020204" pitchFamily="34" charset="0"/>
              <a:cs typeface="Arial" panose="020B0604020202020204" pitchFamily="34" charset="0"/>
            </a:endParaRPr>
          </a:p>
        </p:txBody>
      </p:sp>
      <p:sp>
        <p:nvSpPr>
          <p:cNvPr id="6" name="Text 1">
            <a:extLst>
              <a:ext uri="{FF2B5EF4-FFF2-40B4-BE49-F238E27FC236}">
                <a16:creationId xmlns:a16="http://schemas.microsoft.com/office/drawing/2014/main" id="{8F19F2FD-9711-5A9E-5468-AA4C1492007A}"/>
              </a:ext>
            </a:extLst>
          </p:cNvPr>
          <p:cNvSpPr/>
          <p:nvPr/>
        </p:nvSpPr>
        <p:spPr>
          <a:xfrm>
            <a:off x="1133026" y="570492"/>
            <a:ext cx="6877869" cy="560779"/>
          </a:xfrm>
          <a:prstGeom prst="rect">
            <a:avLst/>
          </a:prstGeom>
          <a:noFill/>
          <a:ln/>
        </p:spPr>
        <p:txBody>
          <a:bodyPr wrap="square" lIns="0" tIns="0" rIns="0" bIns="0" rtlCol="0" anchor="t">
            <a:normAutofit/>
          </a:bodyPr>
          <a:lstStyle/>
          <a:p>
            <a:pPr marL="0" indent="0" algn="l">
              <a:lnSpc>
                <a:spcPct val="114000"/>
              </a:lnSpc>
              <a:buNone/>
            </a:pPr>
            <a:r>
              <a:rPr lang="en-US" sz="1000" dirty="0">
                <a:solidFill>
                  <a:srgbClr val="55575A"/>
                </a:solidFill>
                <a:latin typeface="Arial" panose="020B0604020202020204" pitchFamily="34" charset="0"/>
                <a:ea typeface="Manrope" pitchFamily="34" charset="-122"/>
                <a:cs typeface="Arial" panose="020B0604020202020204" pitchFamily="34" charset="0"/>
              </a:rPr>
              <a:t>DocAI's pipeline transforms raw documents into intelligent, queryable knowledge through a structured, multi-stage process. From upload to answer, every step is designed to ensure accuracy, traceability, and relevance.</a:t>
            </a:r>
            <a:endParaRPr lang="en-US" sz="1000" dirty="0">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209452" y="300186"/>
            <a:ext cx="2589237" cy="266477"/>
          </a:xfrm>
          <a:prstGeom prst="rect">
            <a:avLst/>
          </a:prstGeom>
          <a:noFill/>
          <a:ln/>
        </p:spPr>
        <p:txBody>
          <a:bodyPr wrap="none" lIns="0" tIns="0" rIns="0" bIns="0" rtlCol="0" anchor="t"/>
          <a:lstStyle/>
          <a:p>
            <a:pPr marL="0" indent="0" algn="l">
              <a:lnSpc>
                <a:spcPct val="104000"/>
              </a:lnSpc>
              <a:buNone/>
            </a:pPr>
            <a:r>
              <a:rPr lang="en-US" dirty="0">
                <a:solidFill>
                  <a:srgbClr val="0C0D0F"/>
                </a:solidFill>
                <a:latin typeface="PT Serif" panose="020A0603040505020204" pitchFamily="18" charset="0"/>
                <a:ea typeface="Inter" pitchFamily="34" charset="-122"/>
                <a:cs typeface="Inter" pitchFamily="34" charset="-120"/>
              </a:rPr>
              <a:t>Core Features</a:t>
            </a:r>
            <a:endParaRPr lang="en-US" dirty="0">
              <a:latin typeface="PT Serif" panose="020A0603040505020204" pitchFamily="18" charset="0"/>
            </a:endParaRPr>
          </a:p>
        </p:txBody>
      </p:sp>
      <p:sp>
        <p:nvSpPr>
          <p:cNvPr id="3" name="Text 1"/>
          <p:cNvSpPr/>
          <p:nvPr/>
        </p:nvSpPr>
        <p:spPr>
          <a:xfrm>
            <a:off x="1209452" y="683865"/>
            <a:ext cx="6725022" cy="230237"/>
          </a:xfrm>
          <a:prstGeom prst="rect">
            <a:avLst/>
          </a:prstGeom>
          <a:noFill/>
          <a:ln/>
        </p:spPr>
        <p:txBody>
          <a:bodyPr wrap="square" lIns="0" tIns="0" rIns="0" bIns="0" rtlCol="0" anchor="t">
            <a:noAutofit/>
          </a:bodyPr>
          <a:lstStyle/>
          <a:p>
            <a:pPr marL="0" indent="0" algn="l">
              <a:lnSpc>
                <a:spcPct val="112000"/>
              </a:lnSpc>
              <a:buNone/>
            </a:pPr>
            <a:r>
              <a:rPr lang="en-US" sz="800" dirty="0">
                <a:solidFill>
                  <a:srgbClr val="55575A"/>
                </a:solidFill>
                <a:latin typeface="Manrope" pitchFamily="34" charset="0"/>
                <a:ea typeface="Manrope" pitchFamily="34" charset="-122"/>
                <a:cs typeface="Manrope" pitchFamily="34" charset="-120"/>
              </a:rPr>
              <a:t>DocAI is built for practical enterprise document retrieval — not just basic chat. Its feature set addresses the full lifecycle of document-based knowledge management, from ingestion and search to quality monitoring and administration.</a:t>
            </a:r>
            <a:endParaRPr lang="en-US" sz="800" dirty="0"/>
          </a:p>
        </p:txBody>
      </p:sp>
      <p:sp>
        <p:nvSpPr>
          <p:cNvPr id="4" name="Shape 2"/>
          <p:cNvSpPr/>
          <p:nvPr/>
        </p:nvSpPr>
        <p:spPr>
          <a:xfrm>
            <a:off x="1209452" y="980033"/>
            <a:ext cx="3333229" cy="893118"/>
          </a:xfrm>
          <a:prstGeom prst="roundRect">
            <a:avLst>
              <a:gd name="adj" fmla="val 8594"/>
            </a:avLst>
          </a:prstGeom>
          <a:solidFill>
            <a:srgbClr val="FFFFFF"/>
          </a:solidFill>
          <a:ln w="4763">
            <a:solidFill>
              <a:srgbClr val="FF7047"/>
            </a:solidFill>
            <a:prstDash val="solid"/>
          </a:ln>
        </p:spPr>
        <p:txBody>
          <a:bodyPr/>
          <a:lstStyle/>
          <a:p>
            <a:endParaRPr sz="700"/>
          </a:p>
        </p:txBody>
      </p:sp>
      <p:sp>
        <p:nvSpPr>
          <p:cNvPr id="5" name="Shape 3"/>
          <p:cNvSpPr/>
          <p:nvPr/>
        </p:nvSpPr>
        <p:spPr>
          <a:xfrm>
            <a:off x="1299493" y="1070074"/>
            <a:ext cx="255836" cy="255836"/>
          </a:xfrm>
          <a:prstGeom prst="roundRect">
            <a:avLst>
              <a:gd name="adj" fmla="val 22336296"/>
            </a:avLst>
          </a:prstGeom>
          <a:solidFill>
            <a:srgbClr val="FF7047"/>
          </a:solidFill>
          <a:ln/>
        </p:spPr>
        <p:txBody>
          <a:bodyPr/>
          <a:lstStyle/>
          <a:p>
            <a:endParaRPr sz="70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69814" y="1140396"/>
            <a:ext cx="115119" cy="115119"/>
          </a:xfrm>
          <a:prstGeom prst="rect">
            <a:avLst/>
          </a:prstGeom>
        </p:spPr>
      </p:pic>
      <p:sp>
        <p:nvSpPr>
          <p:cNvPr id="7" name="Text 4"/>
          <p:cNvSpPr/>
          <p:nvPr/>
        </p:nvSpPr>
        <p:spPr>
          <a:xfrm>
            <a:off x="1299493" y="1384474"/>
            <a:ext cx="1081162" cy="133276"/>
          </a:xfrm>
          <a:prstGeom prst="rect">
            <a:avLst/>
          </a:prstGeom>
          <a:noFill/>
          <a:ln/>
        </p:spPr>
        <p:txBody>
          <a:bodyPr wrap="none" lIns="0" tIns="0" rIns="0" bIns="0" rtlCol="0" anchor="t"/>
          <a:lstStyle/>
          <a:p>
            <a:pPr marL="0" indent="0" algn="l">
              <a:lnSpc>
                <a:spcPct val="104000"/>
              </a:lnSpc>
              <a:buNone/>
            </a:pPr>
            <a:r>
              <a:rPr lang="en-US" sz="700" dirty="0">
                <a:solidFill>
                  <a:srgbClr val="55575A"/>
                </a:solidFill>
                <a:latin typeface="Inter" pitchFamily="34" charset="0"/>
                <a:ea typeface="Inter" pitchFamily="34" charset="-122"/>
                <a:cs typeface="Inter" pitchFamily="34" charset="-120"/>
              </a:rPr>
              <a:t>Multi-Format Support</a:t>
            </a:r>
            <a:endParaRPr lang="en-US" sz="700" dirty="0"/>
          </a:p>
        </p:txBody>
      </p:sp>
      <p:sp>
        <p:nvSpPr>
          <p:cNvPr id="8" name="Text 5"/>
          <p:cNvSpPr/>
          <p:nvPr/>
        </p:nvSpPr>
        <p:spPr>
          <a:xfrm>
            <a:off x="1299493" y="1505977"/>
            <a:ext cx="3153147" cy="230237"/>
          </a:xfrm>
          <a:prstGeom prst="rect">
            <a:avLst/>
          </a:prstGeom>
          <a:noFill/>
          <a:ln/>
        </p:spPr>
        <p:txBody>
          <a:bodyPr wrap="square" lIns="0" tIns="0" rIns="0" bIns="0" rtlCol="0" anchor="t">
            <a:noAutofit/>
          </a:bodyPr>
          <a:lstStyle/>
          <a:p>
            <a:pPr marL="0" indent="0" algn="l">
              <a:lnSpc>
                <a:spcPct val="112000"/>
              </a:lnSpc>
              <a:buNone/>
            </a:pPr>
            <a:r>
              <a:rPr lang="en-US" sz="700" dirty="0">
                <a:solidFill>
                  <a:srgbClr val="55575A"/>
                </a:solidFill>
                <a:latin typeface="Manrope" pitchFamily="34" charset="0"/>
                <a:ea typeface="Manrope" pitchFamily="34" charset="-122"/>
                <a:cs typeface="Manrope" pitchFamily="34" charset="-120"/>
              </a:rPr>
              <a:t>Full support for PDF, DOCX, and TXT documents — the most common formats in enterprise environments. Documents are processed automatically upon upload.</a:t>
            </a:r>
            <a:endParaRPr lang="en-US" sz="700" dirty="0"/>
          </a:p>
        </p:txBody>
      </p:sp>
      <p:sp>
        <p:nvSpPr>
          <p:cNvPr id="9" name="Shape 6"/>
          <p:cNvSpPr/>
          <p:nvPr/>
        </p:nvSpPr>
        <p:spPr>
          <a:xfrm>
            <a:off x="4601245" y="980033"/>
            <a:ext cx="3333229" cy="893118"/>
          </a:xfrm>
          <a:prstGeom prst="roundRect">
            <a:avLst>
              <a:gd name="adj" fmla="val 8594"/>
            </a:avLst>
          </a:prstGeom>
          <a:solidFill>
            <a:srgbClr val="FFFFFF"/>
          </a:solidFill>
          <a:ln w="4763">
            <a:solidFill>
              <a:srgbClr val="FF7047"/>
            </a:solidFill>
            <a:prstDash val="solid"/>
          </a:ln>
        </p:spPr>
        <p:txBody>
          <a:bodyPr/>
          <a:lstStyle/>
          <a:p>
            <a:endParaRPr sz="700"/>
          </a:p>
        </p:txBody>
      </p:sp>
      <p:sp>
        <p:nvSpPr>
          <p:cNvPr id="10" name="Shape 7"/>
          <p:cNvSpPr/>
          <p:nvPr/>
        </p:nvSpPr>
        <p:spPr>
          <a:xfrm>
            <a:off x="4691286" y="1070074"/>
            <a:ext cx="255836" cy="255836"/>
          </a:xfrm>
          <a:prstGeom prst="roundRect">
            <a:avLst>
              <a:gd name="adj" fmla="val 22336296"/>
            </a:avLst>
          </a:prstGeom>
          <a:solidFill>
            <a:srgbClr val="FF7047"/>
          </a:solidFill>
          <a:ln/>
        </p:spPr>
        <p:txBody>
          <a:bodyPr/>
          <a:lstStyle/>
          <a:p>
            <a:endParaRPr sz="700"/>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61607" y="1140396"/>
            <a:ext cx="115119" cy="115119"/>
          </a:xfrm>
          <a:prstGeom prst="rect">
            <a:avLst/>
          </a:prstGeom>
        </p:spPr>
      </p:pic>
      <p:sp>
        <p:nvSpPr>
          <p:cNvPr id="12" name="Text 8"/>
          <p:cNvSpPr/>
          <p:nvPr/>
        </p:nvSpPr>
        <p:spPr>
          <a:xfrm>
            <a:off x="4691286" y="1384474"/>
            <a:ext cx="1074390" cy="133276"/>
          </a:xfrm>
          <a:prstGeom prst="rect">
            <a:avLst/>
          </a:prstGeom>
          <a:noFill/>
          <a:ln/>
        </p:spPr>
        <p:txBody>
          <a:bodyPr wrap="none" lIns="0" tIns="0" rIns="0" bIns="0" rtlCol="0" anchor="t"/>
          <a:lstStyle/>
          <a:p>
            <a:pPr marL="0" indent="0" algn="l">
              <a:lnSpc>
                <a:spcPct val="104000"/>
              </a:lnSpc>
              <a:buNone/>
            </a:pPr>
            <a:r>
              <a:rPr lang="en-US" sz="700" dirty="0">
                <a:solidFill>
                  <a:srgbClr val="55575A"/>
                </a:solidFill>
                <a:latin typeface="Inter" pitchFamily="34" charset="0"/>
                <a:ea typeface="Inter" pitchFamily="34" charset="-122"/>
                <a:cs typeface="Inter" pitchFamily="34" charset="-120"/>
              </a:rPr>
              <a:t>Flexible Query Scope</a:t>
            </a:r>
            <a:endParaRPr lang="en-US" sz="700" dirty="0"/>
          </a:p>
        </p:txBody>
      </p:sp>
      <p:sp>
        <p:nvSpPr>
          <p:cNvPr id="13" name="Text 9"/>
          <p:cNvSpPr/>
          <p:nvPr/>
        </p:nvSpPr>
        <p:spPr>
          <a:xfrm>
            <a:off x="4691286" y="1552873"/>
            <a:ext cx="3153147" cy="230237"/>
          </a:xfrm>
          <a:prstGeom prst="rect">
            <a:avLst/>
          </a:prstGeom>
          <a:noFill/>
          <a:ln/>
        </p:spPr>
        <p:txBody>
          <a:bodyPr wrap="square" lIns="0" tIns="0" rIns="0" bIns="0" rtlCol="0" anchor="t">
            <a:noAutofit/>
          </a:bodyPr>
          <a:lstStyle/>
          <a:p>
            <a:pPr marL="0" indent="0" algn="l">
              <a:lnSpc>
                <a:spcPct val="112000"/>
              </a:lnSpc>
              <a:buNone/>
            </a:pPr>
            <a:r>
              <a:rPr lang="en-US" sz="700" dirty="0">
                <a:solidFill>
                  <a:srgbClr val="55575A"/>
                </a:solidFill>
                <a:latin typeface="Manrope" pitchFamily="34" charset="0"/>
                <a:ea typeface="Manrope" pitchFamily="34" charset="-122"/>
                <a:cs typeface="Manrope" pitchFamily="34" charset="-120"/>
              </a:rPr>
              <a:t>Ask questions across all documents in the knowledge base, or narrow the scope to a specific selected document for targeted retrieval.</a:t>
            </a:r>
            <a:endParaRPr lang="en-US" sz="700" dirty="0"/>
          </a:p>
        </p:txBody>
      </p:sp>
      <p:sp>
        <p:nvSpPr>
          <p:cNvPr id="14" name="Shape 10"/>
          <p:cNvSpPr/>
          <p:nvPr/>
        </p:nvSpPr>
        <p:spPr>
          <a:xfrm>
            <a:off x="1209452" y="1931715"/>
            <a:ext cx="3333229" cy="893118"/>
          </a:xfrm>
          <a:prstGeom prst="roundRect">
            <a:avLst>
              <a:gd name="adj" fmla="val 8594"/>
            </a:avLst>
          </a:prstGeom>
          <a:solidFill>
            <a:srgbClr val="FFFFFF"/>
          </a:solidFill>
          <a:ln w="4763">
            <a:solidFill>
              <a:srgbClr val="FF7047"/>
            </a:solidFill>
            <a:prstDash val="solid"/>
          </a:ln>
        </p:spPr>
        <p:txBody>
          <a:bodyPr/>
          <a:lstStyle/>
          <a:p>
            <a:endParaRPr sz="700"/>
          </a:p>
        </p:txBody>
      </p:sp>
      <p:sp>
        <p:nvSpPr>
          <p:cNvPr id="15" name="Shape 11"/>
          <p:cNvSpPr/>
          <p:nvPr/>
        </p:nvSpPr>
        <p:spPr>
          <a:xfrm>
            <a:off x="1299493" y="2021756"/>
            <a:ext cx="255836" cy="255836"/>
          </a:xfrm>
          <a:prstGeom prst="roundRect">
            <a:avLst>
              <a:gd name="adj" fmla="val 22336296"/>
            </a:avLst>
          </a:prstGeom>
          <a:solidFill>
            <a:srgbClr val="FF7047"/>
          </a:solidFill>
          <a:ln/>
        </p:spPr>
        <p:txBody>
          <a:bodyPr/>
          <a:lstStyle/>
          <a:p>
            <a:endParaRPr sz="700"/>
          </a:p>
        </p:txBody>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369814" y="2092077"/>
            <a:ext cx="115119" cy="115119"/>
          </a:xfrm>
          <a:prstGeom prst="rect">
            <a:avLst/>
          </a:prstGeom>
        </p:spPr>
      </p:pic>
      <p:sp>
        <p:nvSpPr>
          <p:cNvPr id="17" name="Text 12"/>
          <p:cNvSpPr/>
          <p:nvPr/>
        </p:nvSpPr>
        <p:spPr>
          <a:xfrm>
            <a:off x="1299493" y="2336155"/>
            <a:ext cx="1184523" cy="133276"/>
          </a:xfrm>
          <a:prstGeom prst="rect">
            <a:avLst/>
          </a:prstGeom>
          <a:noFill/>
          <a:ln/>
        </p:spPr>
        <p:txBody>
          <a:bodyPr wrap="none" lIns="0" tIns="0" rIns="0" bIns="0" rtlCol="0" anchor="t"/>
          <a:lstStyle/>
          <a:p>
            <a:pPr marL="0" indent="0" algn="l">
              <a:lnSpc>
                <a:spcPct val="104000"/>
              </a:lnSpc>
              <a:buNone/>
            </a:pPr>
            <a:r>
              <a:rPr lang="en-US" sz="700" dirty="0">
                <a:solidFill>
                  <a:srgbClr val="55575A"/>
                </a:solidFill>
                <a:latin typeface="Inter" pitchFamily="34" charset="0"/>
                <a:ea typeface="Inter" pitchFamily="34" charset="-122"/>
                <a:cs typeface="Inter" pitchFamily="34" charset="-120"/>
              </a:rPr>
              <a:t>Multiple Answer Modes</a:t>
            </a:r>
            <a:endParaRPr lang="en-US" sz="700" dirty="0"/>
          </a:p>
        </p:txBody>
      </p:sp>
      <p:sp>
        <p:nvSpPr>
          <p:cNvPr id="18" name="Text 13"/>
          <p:cNvSpPr/>
          <p:nvPr/>
        </p:nvSpPr>
        <p:spPr>
          <a:xfrm>
            <a:off x="1299493" y="2504554"/>
            <a:ext cx="3272507" cy="230237"/>
          </a:xfrm>
          <a:prstGeom prst="rect">
            <a:avLst/>
          </a:prstGeom>
          <a:noFill/>
          <a:ln/>
        </p:spPr>
        <p:txBody>
          <a:bodyPr wrap="square" lIns="0" tIns="0" rIns="0" bIns="0" rtlCol="0" anchor="t">
            <a:noAutofit/>
          </a:bodyPr>
          <a:lstStyle/>
          <a:p>
            <a:pPr marL="0" indent="0" algn="l">
              <a:lnSpc>
                <a:spcPct val="112000"/>
              </a:lnSpc>
              <a:buNone/>
            </a:pPr>
            <a:r>
              <a:rPr lang="en-US" sz="700" dirty="0">
                <a:solidFill>
                  <a:srgbClr val="55575A"/>
                </a:solidFill>
                <a:latin typeface="Manrope" pitchFamily="34" charset="0"/>
                <a:ea typeface="Manrope" pitchFamily="34" charset="-122"/>
                <a:cs typeface="Manrope" pitchFamily="34" charset="-120"/>
              </a:rPr>
              <a:t>Choose from simple, detailed, executive, and step-by-step answer modes — tailoring the depth and format of responses to the user's needs.</a:t>
            </a:r>
            <a:endParaRPr lang="en-US" sz="700" dirty="0"/>
          </a:p>
        </p:txBody>
      </p:sp>
      <p:sp>
        <p:nvSpPr>
          <p:cNvPr id="19" name="Shape 14"/>
          <p:cNvSpPr/>
          <p:nvPr/>
        </p:nvSpPr>
        <p:spPr>
          <a:xfrm>
            <a:off x="4601245" y="1931715"/>
            <a:ext cx="3333229" cy="893118"/>
          </a:xfrm>
          <a:prstGeom prst="roundRect">
            <a:avLst>
              <a:gd name="adj" fmla="val 8594"/>
            </a:avLst>
          </a:prstGeom>
          <a:solidFill>
            <a:srgbClr val="FFFFFF"/>
          </a:solidFill>
          <a:ln w="4763">
            <a:solidFill>
              <a:srgbClr val="FF7047"/>
            </a:solidFill>
            <a:prstDash val="solid"/>
          </a:ln>
        </p:spPr>
        <p:txBody>
          <a:bodyPr/>
          <a:lstStyle/>
          <a:p>
            <a:endParaRPr sz="700"/>
          </a:p>
        </p:txBody>
      </p:sp>
      <p:sp>
        <p:nvSpPr>
          <p:cNvPr id="20" name="Shape 15"/>
          <p:cNvSpPr/>
          <p:nvPr/>
        </p:nvSpPr>
        <p:spPr>
          <a:xfrm>
            <a:off x="4691286" y="2021756"/>
            <a:ext cx="255836" cy="255836"/>
          </a:xfrm>
          <a:prstGeom prst="roundRect">
            <a:avLst>
              <a:gd name="adj" fmla="val 22336296"/>
            </a:avLst>
          </a:prstGeom>
          <a:solidFill>
            <a:srgbClr val="FF7047"/>
          </a:solidFill>
          <a:ln/>
        </p:spPr>
        <p:txBody>
          <a:bodyPr/>
          <a:lstStyle/>
          <a:p>
            <a:endParaRPr sz="700"/>
          </a:p>
        </p:txBody>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761607" y="2092077"/>
            <a:ext cx="115119" cy="115119"/>
          </a:xfrm>
          <a:prstGeom prst="rect">
            <a:avLst/>
          </a:prstGeom>
        </p:spPr>
      </p:pic>
      <p:sp>
        <p:nvSpPr>
          <p:cNvPr id="22" name="Text 16"/>
          <p:cNvSpPr/>
          <p:nvPr/>
        </p:nvSpPr>
        <p:spPr>
          <a:xfrm>
            <a:off x="4691286" y="2336155"/>
            <a:ext cx="1275829" cy="133276"/>
          </a:xfrm>
          <a:prstGeom prst="rect">
            <a:avLst/>
          </a:prstGeom>
          <a:noFill/>
          <a:ln/>
        </p:spPr>
        <p:txBody>
          <a:bodyPr wrap="none" lIns="0" tIns="0" rIns="0" bIns="0" rtlCol="0" anchor="t"/>
          <a:lstStyle/>
          <a:p>
            <a:pPr marL="0" indent="0" algn="l">
              <a:lnSpc>
                <a:spcPct val="104000"/>
              </a:lnSpc>
              <a:buNone/>
            </a:pPr>
            <a:r>
              <a:rPr lang="en-US" sz="700" dirty="0">
                <a:solidFill>
                  <a:srgbClr val="55575A"/>
                </a:solidFill>
                <a:latin typeface="Inter" pitchFamily="34" charset="0"/>
                <a:ea typeface="Inter" pitchFamily="34" charset="-122"/>
                <a:cs typeface="Inter" pitchFamily="34" charset="-120"/>
              </a:rPr>
              <a:t>Citation-Backed Answers</a:t>
            </a:r>
            <a:endParaRPr lang="en-US" sz="700" dirty="0"/>
          </a:p>
        </p:txBody>
      </p:sp>
      <p:sp>
        <p:nvSpPr>
          <p:cNvPr id="23" name="Text 17"/>
          <p:cNvSpPr/>
          <p:nvPr/>
        </p:nvSpPr>
        <p:spPr>
          <a:xfrm>
            <a:off x="4691286" y="2457658"/>
            <a:ext cx="3153147" cy="230237"/>
          </a:xfrm>
          <a:prstGeom prst="rect">
            <a:avLst/>
          </a:prstGeom>
          <a:noFill/>
          <a:ln/>
        </p:spPr>
        <p:txBody>
          <a:bodyPr wrap="square" lIns="0" tIns="0" rIns="0" bIns="0" rtlCol="0" anchor="t">
            <a:noAutofit/>
          </a:bodyPr>
          <a:lstStyle/>
          <a:p>
            <a:pPr marL="0" indent="0" algn="l">
              <a:lnSpc>
                <a:spcPct val="112000"/>
              </a:lnSpc>
              <a:buNone/>
            </a:pPr>
            <a:r>
              <a:rPr lang="en-US" sz="700" dirty="0">
                <a:solidFill>
                  <a:srgbClr val="55575A"/>
                </a:solidFill>
                <a:latin typeface="Manrope" pitchFamily="34" charset="0"/>
                <a:ea typeface="Manrope" pitchFamily="34" charset="-122"/>
                <a:cs typeface="Manrope" pitchFamily="34" charset="-120"/>
              </a:rPr>
              <a:t>Every answer includes source document name, page reference, and citation relevance — making results trustworthy and fully verifiable.</a:t>
            </a:r>
            <a:endParaRPr lang="en-US" sz="700" dirty="0"/>
          </a:p>
        </p:txBody>
      </p:sp>
      <p:sp>
        <p:nvSpPr>
          <p:cNvPr id="24" name="Shape 18"/>
          <p:cNvSpPr/>
          <p:nvPr/>
        </p:nvSpPr>
        <p:spPr>
          <a:xfrm>
            <a:off x="1209452" y="2883396"/>
            <a:ext cx="3333229" cy="1008236"/>
          </a:xfrm>
          <a:prstGeom prst="roundRect">
            <a:avLst>
              <a:gd name="adj" fmla="val 7613"/>
            </a:avLst>
          </a:prstGeom>
          <a:solidFill>
            <a:srgbClr val="FFFFFF"/>
          </a:solidFill>
          <a:ln w="4763">
            <a:solidFill>
              <a:srgbClr val="FF7047"/>
            </a:solidFill>
            <a:prstDash val="solid"/>
          </a:ln>
        </p:spPr>
        <p:txBody>
          <a:bodyPr/>
          <a:lstStyle/>
          <a:p>
            <a:endParaRPr sz="700"/>
          </a:p>
        </p:txBody>
      </p:sp>
      <p:sp>
        <p:nvSpPr>
          <p:cNvPr id="25" name="Shape 19"/>
          <p:cNvSpPr/>
          <p:nvPr/>
        </p:nvSpPr>
        <p:spPr>
          <a:xfrm>
            <a:off x="1299493" y="2973437"/>
            <a:ext cx="255836" cy="255836"/>
          </a:xfrm>
          <a:prstGeom prst="roundRect">
            <a:avLst>
              <a:gd name="adj" fmla="val 22336296"/>
            </a:avLst>
          </a:prstGeom>
          <a:solidFill>
            <a:srgbClr val="FF7047"/>
          </a:solidFill>
          <a:ln/>
        </p:spPr>
        <p:txBody>
          <a:bodyPr/>
          <a:lstStyle/>
          <a:p>
            <a:endParaRPr sz="700"/>
          </a:p>
        </p:txBody>
      </p:sp>
      <p:pic>
        <p:nvPicPr>
          <p:cNvPr id="2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369814" y="3043758"/>
            <a:ext cx="115119" cy="115119"/>
          </a:xfrm>
          <a:prstGeom prst="rect">
            <a:avLst/>
          </a:prstGeom>
        </p:spPr>
      </p:pic>
      <p:sp>
        <p:nvSpPr>
          <p:cNvPr id="27" name="Text 20"/>
          <p:cNvSpPr/>
          <p:nvPr/>
        </p:nvSpPr>
        <p:spPr>
          <a:xfrm>
            <a:off x="1299493" y="3287837"/>
            <a:ext cx="1471017" cy="133276"/>
          </a:xfrm>
          <a:prstGeom prst="rect">
            <a:avLst/>
          </a:prstGeom>
          <a:noFill/>
          <a:ln/>
        </p:spPr>
        <p:txBody>
          <a:bodyPr wrap="none" lIns="0" tIns="0" rIns="0" bIns="0" rtlCol="0" anchor="t"/>
          <a:lstStyle/>
          <a:p>
            <a:pPr marL="0" indent="0" algn="l">
              <a:lnSpc>
                <a:spcPct val="104000"/>
              </a:lnSpc>
              <a:buNone/>
            </a:pPr>
            <a:r>
              <a:rPr lang="en-US" sz="700" dirty="0">
                <a:solidFill>
                  <a:srgbClr val="55575A"/>
                </a:solidFill>
                <a:latin typeface="Inter" pitchFamily="34" charset="0"/>
                <a:ea typeface="Inter" pitchFamily="34" charset="-122"/>
                <a:cs typeface="Inter" pitchFamily="34" charset="-120"/>
              </a:rPr>
              <a:t>Original Document Download</a:t>
            </a:r>
            <a:endParaRPr lang="en-US" sz="700" dirty="0"/>
          </a:p>
        </p:txBody>
      </p:sp>
      <p:sp>
        <p:nvSpPr>
          <p:cNvPr id="28" name="Text 21"/>
          <p:cNvSpPr/>
          <p:nvPr/>
        </p:nvSpPr>
        <p:spPr>
          <a:xfrm>
            <a:off x="1299493" y="3456236"/>
            <a:ext cx="3153147" cy="230237"/>
          </a:xfrm>
          <a:prstGeom prst="rect">
            <a:avLst/>
          </a:prstGeom>
          <a:noFill/>
          <a:ln/>
        </p:spPr>
        <p:txBody>
          <a:bodyPr wrap="square" lIns="0" tIns="0" rIns="0" bIns="0" rtlCol="0" anchor="t">
            <a:noAutofit/>
          </a:bodyPr>
          <a:lstStyle/>
          <a:p>
            <a:pPr marL="0" indent="0" algn="l">
              <a:lnSpc>
                <a:spcPct val="112000"/>
              </a:lnSpc>
              <a:buNone/>
            </a:pPr>
            <a:r>
              <a:rPr lang="en-US" sz="700" dirty="0">
                <a:solidFill>
                  <a:srgbClr val="55575A"/>
                </a:solidFill>
                <a:latin typeface="Manrope" pitchFamily="34" charset="0"/>
                <a:ea typeface="Manrope" pitchFamily="34" charset="-122"/>
                <a:cs typeface="Manrope" pitchFamily="34" charset="-120"/>
              </a:rPr>
              <a:t>Users can download the original source document directly from the answer interface for full reference and audit purposes.</a:t>
            </a:r>
            <a:endParaRPr lang="en-US" sz="700" dirty="0"/>
          </a:p>
        </p:txBody>
      </p:sp>
      <p:sp>
        <p:nvSpPr>
          <p:cNvPr id="29" name="Shape 22"/>
          <p:cNvSpPr/>
          <p:nvPr/>
        </p:nvSpPr>
        <p:spPr>
          <a:xfrm>
            <a:off x="4601245" y="2883396"/>
            <a:ext cx="3333229" cy="1008236"/>
          </a:xfrm>
          <a:prstGeom prst="roundRect">
            <a:avLst>
              <a:gd name="adj" fmla="val 7613"/>
            </a:avLst>
          </a:prstGeom>
          <a:solidFill>
            <a:srgbClr val="FFFFFF"/>
          </a:solidFill>
          <a:ln w="4763">
            <a:solidFill>
              <a:srgbClr val="FF7047"/>
            </a:solidFill>
            <a:prstDash val="solid"/>
          </a:ln>
        </p:spPr>
        <p:txBody>
          <a:bodyPr/>
          <a:lstStyle/>
          <a:p>
            <a:endParaRPr sz="700"/>
          </a:p>
        </p:txBody>
      </p:sp>
      <p:sp>
        <p:nvSpPr>
          <p:cNvPr id="30" name="Shape 23"/>
          <p:cNvSpPr/>
          <p:nvPr/>
        </p:nvSpPr>
        <p:spPr>
          <a:xfrm>
            <a:off x="4691286" y="2973437"/>
            <a:ext cx="255836" cy="255836"/>
          </a:xfrm>
          <a:prstGeom prst="roundRect">
            <a:avLst>
              <a:gd name="adj" fmla="val 22336296"/>
            </a:avLst>
          </a:prstGeom>
          <a:solidFill>
            <a:srgbClr val="FF7047"/>
          </a:solidFill>
          <a:ln/>
        </p:spPr>
        <p:txBody>
          <a:bodyPr/>
          <a:lstStyle/>
          <a:p>
            <a:endParaRPr sz="700"/>
          </a:p>
        </p:txBody>
      </p:sp>
      <p:pic>
        <p:nvPicPr>
          <p:cNvPr id="31"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761607" y="3043758"/>
            <a:ext cx="115119" cy="115119"/>
          </a:xfrm>
          <a:prstGeom prst="rect">
            <a:avLst/>
          </a:prstGeom>
        </p:spPr>
      </p:pic>
      <p:sp>
        <p:nvSpPr>
          <p:cNvPr id="32" name="Text 24"/>
          <p:cNvSpPr/>
          <p:nvPr/>
        </p:nvSpPr>
        <p:spPr>
          <a:xfrm>
            <a:off x="4691286" y="3287837"/>
            <a:ext cx="1116434" cy="133276"/>
          </a:xfrm>
          <a:prstGeom prst="rect">
            <a:avLst/>
          </a:prstGeom>
          <a:noFill/>
          <a:ln/>
        </p:spPr>
        <p:txBody>
          <a:bodyPr wrap="none" lIns="0" tIns="0" rIns="0" bIns="0" rtlCol="0" anchor="t"/>
          <a:lstStyle/>
          <a:p>
            <a:pPr marL="0" indent="0" algn="l">
              <a:lnSpc>
                <a:spcPct val="104000"/>
              </a:lnSpc>
              <a:buNone/>
            </a:pPr>
            <a:r>
              <a:rPr lang="en-US" sz="700" dirty="0">
                <a:solidFill>
                  <a:srgbClr val="55575A"/>
                </a:solidFill>
                <a:latin typeface="Inter" pitchFamily="34" charset="0"/>
                <a:ea typeface="Inter" pitchFamily="34" charset="-122"/>
                <a:cs typeface="Inter" pitchFamily="34" charset="-120"/>
              </a:rPr>
              <a:t>Auto FAQ &amp; Taxonomy</a:t>
            </a:r>
            <a:endParaRPr lang="en-US" sz="700" dirty="0"/>
          </a:p>
        </p:txBody>
      </p:sp>
      <p:sp>
        <p:nvSpPr>
          <p:cNvPr id="33" name="Text 25"/>
          <p:cNvSpPr/>
          <p:nvPr/>
        </p:nvSpPr>
        <p:spPr>
          <a:xfrm>
            <a:off x="4691286" y="3456236"/>
            <a:ext cx="3153147" cy="345356"/>
          </a:xfrm>
          <a:prstGeom prst="rect">
            <a:avLst/>
          </a:prstGeom>
          <a:noFill/>
          <a:ln/>
        </p:spPr>
        <p:txBody>
          <a:bodyPr wrap="square" lIns="0" tIns="0" rIns="0" bIns="0" rtlCol="0" anchor="t">
            <a:noAutofit/>
          </a:bodyPr>
          <a:lstStyle/>
          <a:p>
            <a:pPr marL="0" indent="0" algn="l">
              <a:lnSpc>
                <a:spcPct val="112000"/>
              </a:lnSpc>
              <a:buNone/>
            </a:pPr>
            <a:r>
              <a:rPr lang="en-US" sz="700" dirty="0">
                <a:solidFill>
                  <a:srgbClr val="55575A"/>
                </a:solidFill>
                <a:latin typeface="Manrope" pitchFamily="34" charset="0"/>
                <a:ea typeface="Manrope" pitchFamily="34" charset="-122"/>
                <a:cs typeface="Manrope" pitchFamily="34" charset="-120"/>
              </a:rPr>
              <a:t>DocAI automatically generates FAQs and taxonomy tags from document content, improving discoverability and knowledge organization without manual effort.</a:t>
            </a:r>
            <a:endParaRPr lang="en-US" sz="700" dirty="0"/>
          </a:p>
        </p:txBody>
      </p:sp>
      <p:sp>
        <p:nvSpPr>
          <p:cNvPr id="34" name="Shape 26"/>
          <p:cNvSpPr/>
          <p:nvPr/>
        </p:nvSpPr>
        <p:spPr>
          <a:xfrm>
            <a:off x="1209452" y="3950196"/>
            <a:ext cx="3333229" cy="893118"/>
          </a:xfrm>
          <a:prstGeom prst="roundRect">
            <a:avLst>
              <a:gd name="adj" fmla="val 8594"/>
            </a:avLst>
          </a:prstGeom>
          <a:solidFill>
            <a:srgbClr val="FFFFFF"/>
          </a:solidFill>
          <a:ln w="4763">
            <a:solidFill>
              <a:srgbClr val="FF7047"/>
            </a:solidFill>
            <a:prstDash val="solid"/>
          </a:ln>
        </p:spPr>
        <p:txBody>
          <a:bodyPr/>
          <a:lstStyle/>
          <a:p>
            <a:endParaRPr sz="700"/>
          </a:p>
        </p:txBody>
      </p:sp>
      <p:sp>
        <p:nvSpPr>
          <p:cNvPr id="35" name="Shape 27"/>
          <p:cNvSpPr/>
          <p:nvPr/>
        </p:nvSpPr>
        <p:spPr>
          <a:xfrm>
            <a:off x="1299493" y="4040237"/>
            <a:ext cx="255836" cy="255836"/>
          </a:xfrm>
          <a:prstGeom prst="roundRect">
            <a:avLst>
              <a:gd name="adj" fmla="val 22336296"/>
            </a:avLst>
          </a:prstGeom>
          <a:solidFill>
            <a:srgbClr val="FF7047"/>
          </a:solidFill>
          <a:ln/>
        </p:spPr>
        <p:txBody>
          <a:bodyPr/>
          <a:lstStyle/>
          <a:p>
            <a:endParaRPr sz="700"/>
          </a:p>
        </p:txBody>
      </p:sp>
      <p:pic>
        <p:nvPicPr>
          <p:cNvPr id="36"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369814" y="4110558"/>
            <a:ext cx="115119" cy="115119"/>
          </a:xfrm>
          <a:prstGeom prst="rect">
            <a:avLst/>
          </a:prstGeom>
        </p:spPr>
      </p:pic>
      <p:sp>
        <p:nvSpPr>
          <p:cNvPr id="37" name="Text 28"/>
          <p:cNvSpPr/>
          <p:nvPr/>
        </p:nvSpPr>
        <p:spPr>
          <a:xfrm>
            <a:off x="1299493" y="4354637"/>
            <a:ext cx="1065981" cy="133276"/>
          </a:xfrm>
          <a:prstGeom prst="rect">
            <a:avLst/>
          </a:prstGeom>
          <a:noFill/>
          <a:ln/>
        </p:spPr>
        <p:txBody>
          <a:bodyPr wrap="none" lIns="0" tIns="0" rIns="0" bIns="0" rtlCol="0" anchor="t"/>
          <a:lstStyle/>
          <a:p>
            <a:pPr marL="0" indent="0" algn="l">
              <a:lnSpc>
                <a:spcPct val="104000"/>
              </a:lnSpc>
              <a:buNone/>
            </a:pPr>
            <a:r>
              <a:rPr lang="en-US" sz="700" dirty="0">
                <a:solidFill>
                  <a:srgbClr val="55575A"/>
                </a:solidFill>
                <a:latin typeface="Inter" pitchFamily="34" charset="0"/>
                <a:ea typeface="Inter" pitchFamily="34" charset="-122"/>
                <a:cs typeface="Inter" pitchFamily="34" charset="-120"/>
              </a:rPr>
              <a:t>Search History</a:t>
            </a:r>
            <a:endParaRPr lang="en-US" sz="700" dirty="0"/>
          </a:p>
        </p:txBody>
      </p:sp>
      <p:sp>
        <p:nvSpPr>
          <p:cNvPr id="38" name="Text 29"/>
          <p:cNvSpPr/>
          <p:nvPr/>
        </p:nvSpPr>
        <p:spPr>
          <a:xfrm>
            <a:off x="1299493" y="4523036"/>
            <a:ext cx="3153147" cy="230237"/>
          </a:xfrm>
          <a:prstGeom prst="rect">
            <a:avLst/>
          </a:prstGeom>
          <a:noFill/>
          <a:ln/>
        </p:spPr>
        <p:txBody>
          <a:bodyPr wrap="square" lIns="0" tIns="0" rIns="0" bIns="0" rtlCol="0" anchor="t">
            <a:noAutofit/>
          </a:bodyPr>
          <a:lstStyle/>
          <a:p>
            <a:pPr marL="0" indent="0" algn="l">
              <a:lnSpc>
                <a:spcPct val="112000"/>
              </a:lnSpc>
              <a:buNone/>
            </a:pPr>
            <a:r>
              <a:rPr lang="en-US" sz="700" dirty="0">
                <a:solidFill>
                  <a:srgbClr val="55575A"/>
                </a:solidFill>
                <a:latin typeface="Manrope" pitchFamily="34" charset="0"/>
                <a:ea typeface="Manrope" pitchFamily="34" charset="-122"/>
                <a:cs typeface="Manrope" pitchFamily="34" charset="-120"/>
              </a:rPr>
              <a:t>Users maintain a personal search history, enabling continuity across sessions and helping them track previously explored topics.</a:t>
            </a:r>
            <a:endParaRPr lang="en-US" sz="700" dirty="0"/>
          </a:p>
        </p:txBody>
      </p:sp>
      <p:sp>
        <p:nvSpPr>
          <p:cNvPr id="39" name="Shape 30"/>
          <p:cNvSpPr/>
          <p:nvPr/>
        </p:nvSpPr>
        <p:spPr>
          <a:xfrm>
            <a:off x="4601245" y="3950196"/>
            <a:ext cx="3333229" cy="893118"/>
          </a:xfrm>
          <a:prstGeom prst="roundRect">
            <a:avLst>
              <a:gd name="adj" fmla="val 8594"/>
            </a:avLst>
          </a:prstGeom>
          <a:solidFill>
            <a:srgbClr val="FFFFFF"/>
          </a:solidFill>
          <a:ln w="4763">
            <a:solidFill>
              <a:srgbClr val="FF7047"/>
            </a:solidFill>
            <a:prstDash val="solid"/>
          </a:ln>
        </p:spPr>
        <p:txBody>
          <a:bodyPr/>
          <a:lstStyle/>
          <a:p>
            <a:endParaRPr sz="700"/>
          </a:p>
        </p:txBody>
      </p:sp>
      <p:sp>
        <p:nvSpPr>
          <p:cNvPr id="40" name="Shape 31"/>
          <p:cNvSpPr/>
          <p:nvPr/>
        </p:nvSpPr>
        <p:spPr>
          <a:xfrm>
            <a:off x="4691286" y="4040237"/>
            <a:ext cx="255836" cy="255836"/>
          </a:xfrm>
          <a:prstGeom prst="roundRect">
            <a:avLst>
              <a:gd name="adj" fmla="val 22336296"/>
            </a:avLst>
          </a:prstGeom>
          <a:solidFill>
            <a:srgbClr val="FF7047"/>
          </a:solidFill>
          <a:ln/>
        </p:spPr>
        <p:txBody>
          <a:bodyPr/>
          <a:lstStyle/>
          <a:p>
            <a:endParaRPr sz="700"/>
          </a:p>
        </p:txBody>
      </p:sp>
      <p:pic>
        <p:nvPicPr>
          <p:cNvPr id="41"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761607" y="4110558"/>
            <a:ext cx="115119" cy="115119"/>
          </a:xfrm>
          <a:prstGeom prst="rect">
            <a:avLst/>
          </a:prstGeom>
        </p:spPr>
      </p:pic>
      <p:sp>
        <p:nvSpPr>
          <p:cNvPr id="42" name="Text 32"/>
          <p:cNvSpPr/>
          <p:nvPr/>
        </p:nvSpPr>
        <p:spPr>
          <a:xfrm>
            <a:off x="4691286" y="4354637"/>
            <a:ext cx="1065981" cy="133276"/>
          </a:xfrm>
          <a:prstGeom prst="rect">
            <a:avLst/>
          </a:prstGeom>
          <a:noFill/>
          <a:ln/>
        </p:spPr>
        <p:txBody>
          <a:bodyPr wrap="none" lIns="0" tIns="0" rIns="0" bIns="0" rtlCol="0" anchor="t"/>
          <a:lstStyle/>
          <a:p>
            <a:pPr marL="0" indent="0" algn="l">
              <a:lnSpc>
                <a:spcPct val="104000"/>
              </a:lnSpc>
              <a:buNone/>
            </a:pPr>
            <a:r>
              <a:rPr lang="en-US" sz="700" dirty="0">
                <a:solidFill>
                  <a:srgbClr val="55575A"/>
                </a:solidFill>
                <a:latin typeface="Inter" pitchFamily="34" charset="0"/>
                <a:ea typeface="Inter" pitchFamily="34" charset="-122"/>
                <a:cs typeface="Inter" pitchFamily="34" charset="-120"/>
              </a:rPr>
              <a:t>Review Queue</a:t>
            </a:r>
            <a:endParaRPr lang="en-US" sz="700" dirty="0"/>
          </a:p>
        </p:txBody>
      </p:sp>
      <p:sp>
        <p:nvSpPr>
          <p:cNvPr id="43" name="Text 33"/>
          <p:cNvSpPr/>
          <p:nvPr/>
        </p:nvSpPr>
        <p:spPr>
          <a:xfrm>
            <a:off x="4691286" y="4523036"/>
            <a:ext cx="3153147" cy="230237"/>
          </a:xfrm>
          <a:prstGeom prst="rect">
            <a:avLst/>
          </a:prstGeom>
          <a:noFill/>
          <a:ln/>
        </p:spPr>
        <p:txBody>
          <a:bodyPr wrap="square" lIns="0" tIns="0" rIns="0" bIns="0" rtlCol="0" anchor="t">
            <a:noAutofit/>
          </a:bodyPr>
          <a:lstStyle/>
          <a:p>
            <a:pPr marL="0" indent="0" algn="l">
              <a:lnSpc>
                <a:spcPct val="112000"/>
              </a:lnSpc>
              <a:buNone/>
            </a:pPr>
            <a:r>
              <a:rPr lang="en-US" sz="700" dirty="0">
                <a:solidFill>
                  <a:srgbClr val="55575A"/>
                </a:solidFill>
                <a:latin typeface="Manrope" pitchFamily="34" charset="0"/>
                <a:ea typeface="Manrope" pitchFamily="34" charset="-122"/>
                <a:cs typeface="Manrope" pitchFamily="34" charset="-120"/>
              </a:rPr>
              <a:t>Low-confidence answers are flagged in a review queue, allowing admins to audit, validate, and improve knowledge quality over time.</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50912" y="296242"/>
            <a:ext cx="4824636" cy="302865"/>
          </a:xfrm>
          <a:prstGeom prst="rect">
            <a:avLst/>
          </a:prstGeom>
          <a:noFill/>
          <a:ln/>
        </p:spPr>
        <p:txBody>
          <a:bodyPr wrap="none" lIns="0" tIns="0" rIns="0" bIns="0" rtlCol="0" anchor="t"/>
          <a:lstStyle/>
          <a:p>
            <a:pPr marL="0" indent="0" algn="l">
              <a:lnSpc>
                <a:spcPct val="104000"/>
              </a:lnSpc>
              <a:buNone/>
            </a:pPr>
            <a:r>
              <a:rPr lang="en-US" sz="2000" dirty="0">
                <a:solidFill>
                  <a:srgbClr val="0C0D0F"/>
                </a:solidFill>
                <a:latin typeface="PT Serif" panose="020A0603040505020204" pitchFamily="18" charset="0"/>
                <a:ea typeface="Inter" pitchFamily="34" charset="-122"/>
                <a:cs typeface="Inter" pitchFamily="34" charset="-120"/>
              </a:rPr>
              <a:t>Ask Agent &amp; Citation-Backed Answers</a:t>
            </a:r>
            <a:endParaRPr lang="en-US" sz="2000" dirty="0">
              <a:latin typeface="PT Serif" panose="020A0603040505020204" pitchFamily="18" charset="0"/>
            </a:endParaRPr>
          </a:p>
        </p:txBody>
      </p:sp>
      <p:sp>
        <p:nvSpPr>
          <p:cNvPr id="3" name="Text 1"/>
          <p:cNvSpPr/>
          <p:nvPr/>
        </p:nvSpPr>
        <p:spPr>
          <a:xfrm>
            <a:off x="750912" y="750466"/>
            <a:ext cx="7642101" cy="276076"/>
          </a:xfrm>
          <a:prstGeom prst="rect">
            <a:avLst/>
          </a:prstGeom>
          <a:noFill/>
          <a:ln/>
        </p:spPr>
        <p:txBody>
          <a:bodyPr wrap="square" lIns="0" tIns="0" rIns="0" bIns="0" rtlCol="0" anchor="t">
            <a:noAutofit/>
          </a:bodyPr>
          <a:lstStyle/>
          <a:p>
            <a:pPr marL="0" indent="0" algn="l">
              <a:lnSpc>
                <a:spcPct val="119000"/>
              </a:lnSpc>
              <a:buNone/>
            </a:pPr>
            <a:r>
              <a:rPr lang="en-US" sz="800" dirty="0">
                <a:solidFill>
                  <a:srgbClr val="55575A"/>
                </a:solidFill>
                <a:latin typeface="Manrope" pitchFamily="34" charset="0"/>
                <a:ea typeface="Manrope" pitchFamily="34" charset="-122"/>
                <a:cs typeface="Manrope" pitchFamily="34" charset="-120"/>
              </a:rPr>
              <a:t>At the heart of DocAI is the Ask Agent — an intelligent interface that allows users to query the knowledge base in natural language and receive structured, evidence-backed responses. Every answer is traceable to its source, ensuring trust and accountability in enterprise decision-making.</a:t>
            </a:r>
            <a:endParaRPr lang="en-US" sz="800" dirty="0"/>
          </a:p>
        </p:txBody>
      </p:sp>
      <p:sp>
        <p:nvSpPr>
          <p:cNvPr id="4" name="Text 2"/>
          <p:cNvSpPr/>
          <p:nvPr/>
        </p:nvSpPr>
        <p:spPr>
          <a:xfrm>
            <a:off x="750912" y="1187351"/>
            <a:ext cx="1727746" cy="151433"/>
          </a:xfrm>
          <a:prstGeom prst="rect">
            <a:avLst/>
          </a:prstGeom>
          <a:noFill/>
          <a:ln/>
        </p:spPr>
        <p:txBody>
          <a:bodyPr wrap="none" lIns="0" tIns="0" rIns="0" bIns="0" rtlCol="0" anchor="t"/>
          <a:lstStyle/>
          <a:p>
            <a:pPr marL="0" indent="0" algn="l">
              <a:lnSpc>
                <a:spcPct val="104000"/>
              </a:lnSpc>
              <a:buNone/>
            </a:pPr>
            <a:r>
              <a:rPr lang="en-US" sz="1000" dirty="0">
                <a:solidFill>
                  <a:srgbClr val="0C0D0F"/>
                </a:solidFill>
                <a:latin typeface="Inter" pitchFamily="34" charset="0"/>
                <a:ea typeface="Inter" pitchFamily="34" charset="-122"/>
                <a:cs typeface="Inter" pitchFamily="34" charset="-120"/>
              </a:rPr>
              <a:t>Example User Queries</a:t>
            </a:r>
            <a:endParaRPr lang="en-US" sz="1000" dirty="0"/>
          </a:p>
        </p:txBody>
      </p:sp>
      <p:pic>
        <p:nvPicPr>
          <p:cNvPr id="5" name="Image 0" descr="preencoded.png"/>
          <p:cNvPicPr>
            <a:picLocks noChangeAspect="1"/>
          </p:cNvPicPr>
          <p:nvPr/>
        </p:nvPicPr>
        <p:blipFill>
          <a:blip r:embed="rId3"/>
          <a:stretch>
            <a:fillRect/>
          </a:stretch>
        </p:blipFill>
        <p:spPr>
          <a:xfrm>
            <a:off x="750912" y="1423913"/>
            <a:ext cx="1813545" cy="586160"/>
          </a:xfrm>
          <a:prstGeom prst="rect">
            <a:avLst/>
          </a:prstGeom>
        </p:spPr>
      </p:pic>
      <p:sp>
        <p:nvSpPr>
          <p:cNvPr id="6" name="Text 3"/>
          <p:cNvSpPr/>
          <p:nvPr/>
        </p:nvSpPr>
        <p:spPr>
          <a:xfrm>
            <a:off x="847799" y="1520800"/>
            <a:ext cx="1619771" cy="276076"/>
          </a:xfrm>
          <a:prstGeom prst="rect">
            <a:avLst/>
          </a:prstGeom>
          <a:noFill/>
          <a:ln/>
        </p:spPr>
        <p:txBody>
          <a:bodyPr wrap="square" lIns="0" tIns="0" rIns="0" bIns="0" rtlCol="0" anchor="t">
            <a:noAutofit/>
          </a:bodyPr>
          <a:lstStyle/>
          <a:p>
            <a:pPr marL="0" indent="0" algn="l">
              <a:lnSpc>
                <a:spcPct val="119000"/>
              </a:lnSpc>
              <a:buNone/>
            </a:pPr>
            <a:r>
              <a:rPr lang="en-US" sz="800" dirty="0">
                <a:solidFill>
                  <a:srgbClr val="55575A"/>
                </a:solidFill>
                <a:latin typeface="Manrope" pitchFamily="34" charset="0"/>
                <a:ea typeface="Manrope" pitchFamily="34" charset="-122"/>
                <a:cs typeface="Manrope" pitchFamily="34" charset="-120"/>
              </a:rPr>
              <a:t>"What is the leave approval process?"</a:t>
            </a:r>
            <a:endParaRPr lang="en-US" sz="800" dirty="0"/>
          </a:p>
        </p:txBody>
      </p:sp>
      <p:pic>
        <p:nvPicPr>
          <p:cNvPr id="7" name="Image 1" descr="preencoded.png"/>
          <p:cNvPicPr>
            <a:picLocks noChangeAspect="1"/>
          </p:cNvPicPr>
          <p:nvPr/>
        </p:nvPicPr>
        <p:blipFill>
          <a:blip r:embed="rId3"/>
          <a:stretch>
            <a:fillRect/>
          </a:stretch>
        </p:blipFill>
        <p:spPr>
          <a:xfrm>
            <a:off x="2640137" y="1423913"/>
            <a:ext cx="1813620" cy="586160"/>
          </a:xfrm>
          <a:prstGeom prst="rect">
            <a:avLst/>
          </a:prstGeom>
        </p:spPr>
      </p:pic>
      <p:sp>
        <p:nvSpPr>
          <p:cNvPr id="8" name="Text 4"/>
          <p:cNvSpPr/>
          <p:nvPr/>
        </p:nvSpPr>
        <p:spPr>
          <a:xfrm>
            <a:off x="2737024" y="1520800"/>
            <a:ext cx="1619845" cy="276076"/>
          </a:xfrm>
          <a:prstGeom prst="rect">
            <a:avLst/>
          </a:prstGeom>
          <a:noFill/>
          <a:ln/>
        </p:spPr>
        <p:txBody>
          <a:bodyPr wrap="square" lIns="0" tIns="0" rIns="0" bIns="0" rtlCol="0" anchor="t">
            <a:noAutofit/>
          </a:bodyPr>
          <a:lstStyle/>
          <a:p>
            <a:pPr marL="0" indent="0" algn="l">
              <a:lnSpc>
                <a:spcPct val="119000"/>
              </a:lnSpc>
              <a:buNone/>
            </a:pPr>
            <a:r>
              <a:rPr lang="en-US" sz="800" dirty="0">
                <a:solidFill>
                  <a:srgbClr val="55575A"/>
                </a:solidFill>
                <a:latin typeface="Manrope" pitchFamily="34" charset="0"/>
                <a:ea typeface="Manrope" pitchFamily="34" charset="-122"/>
                <a:cs typeface="Manrope" pitchFamily="34" charset="-120"/>
              </a:rPr>
              <a:t>"What role is mentioned in this internship document?"</a:t>
            </a:r>
            <a:endParaRPr lang="en-US" sz="800" dirty="0"/>
          </a:p>
        </p:txBody>
      </p:sp>
      <p:pic>
        <p:nvPicPr>
          <p:cNvPr id="9" name="Image 2" descr="preencoded.png"/>
          <p:cNvPicPr>
            <a:picLocks noChangeAspect="1"/>
          </p:cNvPicPr>
          <p:nvPr/>
        </p:nvPicPr>
        <p:blipFill>
          <a:blip r:embed="rId4"/>
          <a:stretch>
            <a:fillRect/>
          </a:stretch>
        </p:blipFill>
        <p:spPr>
          <a:xfrm>
            <a:off x="750912" y="2085752"/>
            <a:ext cx="3702844" cy="448121"/>
          </a:xfrm>
          <a:prstGeom prst="rect">
            <a:avLst/>
          </a:prstGeom>
        </p:spPr>
      </p:pic>
      <p:sp>
        <p:nvSpPr>
          <p:cNvPr id="10" name="Text 5"/>
          <p:cNvSpPr/>
          <p:nvPr/>
        </p:nvSpPr>
        <p:spPr>
          <a:xfrm>
            <a:off x="847799" y="2182639"/>
            <a:ext cx="3509070" cy="138038"/>
          </a:xfrm>
          <a:prstGeom prst="rect">
            <a:avLst/>
          </a:prstGeom>
          <a:noFill/>
          <a:ln/>
        </p:spPr>
        <p:txBody>
          <a:bodyPr wrap="none" lIns="0" tIns="0" rIns="0" bIns="0" rtlCol="0" anchor="t"/>
          <a:lstStyle/>
          <a:p>
            <a:pPr marL="0" indent="0" algn="l">
              <a:lnSpc>
                <a:spcPct val="119000"/>
              </a:lnSpc>
              <a:buNone/>
            </a:pPr>
            <a:r>
              <a:rPr lang="en-US" sz="800" dirty="0">
                <a:solidFill>
                  <a:srgbClr val="55575A"/>
                </a:solidFill>
                <a:latin typeface="Manrope" pitchFamily="34" charset="0"/>
                <a:ea typeface="Manrope" pitchFamily="34" charset="-122"/>
                <a:cs typeface="Manrope" pitchFamily="34" charset="-120"/>
              </a:rPr>
              <a:t>"What is the main purpose of this project paper?"</a:t>
            </a:r>
            <a:endParaRPr lang="en-US" sz="800" dirty="0"/>
          </a:p>
        </p:txBody>
      </p:sp>
      <p:sp>
        <p:nvSpPr>
          <p:cNvPr id="11" name="Text 6"/>
          <p:cNvSpPr/>
          <p:nvPr/>
        </p:nvSpPr>
        <p:spPr>
          <a:xfrm>
            <a:off x="4694858" y="1187351"/>
            <a:ext cx="1668587" cy="151433"/>
          </a:xfrm>
          <a:prstGeom prst="rect">
            <a:avLst/>
          </a:prstGeom>
          <a:noFill/>
          <a:ln/>
        </p:spPr>
        <p:txBody>
          <a:bodyPr wrap="none" lIns="0" tIns="0" rIns="0" bIns="0" rtlCol="0" anchor="t"/>
          <a:lstStyle/>
          <a:p>
            <a:pPr marL="0" indent="0" algn="l">
              <a:lnSpc>
                <a:spcPct val="104000"/>
              </a:lnSpc>
              <a:buNone/>
            </a:pPr>
            <a:r>
              <a:rPr lang="en-US" sz="1000" dirty="0">
                <a:solidFill>
                  <a:srgbClr val="0C0D0F"/>
                </a:solidFill>
                <a:latin typeface="Inter" pitchFamily="34" charset="0"/>
                <a:ea typeface="Inter" pitchFamily="34" charset="-122"/>
                <a:cs typeface="Inter" pitchFamily="34" charset="-120"/>
              </a:rPr>
              <a:t>What DocAI Returns</a:t>
            </a:r>
            <a:endParaRPr lang="en-US" sz="100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31172" y="1426890"/>
            <a:ext cx="145331" cy="145331"/>
          </a:xfrm>
          <a:prstGeom prst="rect">
            <a:avLst/>
          </a:prstGeom>
        </p:spPr>
      </p:pic>
      <p:sp>
        <p:nvSpPr>
          <p:cNvPr id="13" name="Text 7"/>
          <p:cNvSpPr/>
          <p:nvPr/>
        </p:nvSpPr>
        <p:spPr>
          <a:xfrm>
            <a:off x="5009778" y="1423913"/>
            <a:ext cx="1211387" cy="151433"/>
          </a:xfrm>
          <a:prstGeom prst="rect">
            <a:avLst/>
          </a:prstGeom>
          <a:noFill/>
          <a:ln/>
        </p:spPr>
        <p:txBody>
          <a:bodyPr wrap="none" lIns="0" tIns="0" rIns="0" bIns="0" rtlCol="0" anchor="t"/>
          <a:lstStyle/>
          <a:p>
            <a:pPr marL="0" indent="0" algn="l">
              <a:lnSpc>
                <a:spcPct val="104000"/>
              </a:lnSpc>
              <a:buNone/>
            </a:pPr>
            <a:r>
              <a:rPr lang="en-US" sz="1000" dirty="0">
                <a:solidFill>
                  <a:srgbClr val="55575A"/>
                </a:solidFill>
                <a:latin typeface="Inter" pitchFamily="34" charset="0"/>
                <a:ea typeface="Inter" pitchFamily="34" charset="-122"/>
                <a:cs typeface="Inter" pitchFamily="34" charset="-120"/>
              </a:rPr>
              <a:t>Clear Answer</a:t>
            </a:r>
            <a:endParaRPr lang="en-US" sz="1000" dirty="0"/>
          </a:p>
        </p:txBody>
      </p:sp>
      <p:sp>
        <p:nvSpPr>
          <p:cNvPr id="14" name="Text 8"/>
          <p:cNvSpPr/>
          <p:nvPr/>
        </p:nvSpPr>
        <p:spPr>
          <a:xfrm>
            <a:off x="5009778" y="1651025"/>
            <a:ext cx="3387923" cy="138038"/>
          </a:xfrm>
          <a:prstGeom prst="rect">
            <a:avLst/>
          </a:prstGeom>
          <a:noFill/>
          <a:ln/>
        </p:spPr>
        <p:txBody>
          <a:bodyPr wrap="none" lIns="0" tIns="0" rIns="0" bIns="0" rtlCol="0" anchor="t"/>
          <a:lstStyle/>
          <a:p>
            <a:pPr marL="0" indent="0" algn="l">
              <a:lnSpc>
                <a:spcPct val="119000"/>
              </a:lnSpc>
              <a:buNone/>
            </a:pPr>
            <a:r>
              <a:rPr lang="en-US" sz="800" dirty="0">
                <a:solidFill>
                  <a:srgbClr val="55575A"/>
                </a:solidFill>
                <a:latin typeface="Manrope" pitchFamily="34" charset="0"/>
                <a:ea typeface="Manrope" pitchFamily="34" charset="-122"/>
                <a:cs typeface="Manrope" pitchFamily="34" charset="-120"/>
              </a:rPr>
              <a:t>A structured, readable response directly addressing the question asked.</a:t>
            </a:r>
            <a:endParaRPr lang="en-US" sz="800" dirty="0"/>
          </a:p>
        </p:txBody>
      </p:sp>
      <p:pic>
        <p:nvPicPr>
          <p:cNvPr id="15" name="Image 4"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31172" y="1943398"/>
            <a:ext cx="145331" cy="145331"/>
          </a:xfrm>
          <a:prstGeom prst="rect">
            <a:avLst/>
          </a:prstGeom>
        </p:spPr>
      </p:pic>
      <p:sp>
        <p:nvSpPr>
          <p:cNvPr id="16" name="Text 9"/>
          <p:cNvSpPr/>
          <p:nvPr/>
        </p:nvSpPr>
        <p:spPr>
          <a:xfrm>
            <a:off x="5009778" y="1940421"/>
            <a:ext cx="1211387" cy="151433"/>
          </a:xfrm>
          <a:prstGeom prst="rect">
            <a:avLst/>
          </a:prstGeom>
          <a:noFill/>
          <a:ln/>
        </p:spPr>
        <p:txBody>
          <a:bodyPr wrap="none" lIns="0" tIns="0" rIns="0" bIns="0" rtlCol="0" anchor="t"/>
          <a:lstStyle/>
          <a:p>
            <a:pPr marL="0" indent="0" algn="l">
              <a:lnSpc>
                <a:spcPct val="104000"/>
              </a:lnSpc>
              <a:buNone/>
            </a:pPr>
            <a:r>
              <a:rPr lang="en-US" sz="1000" dirty="0">
                <a:solidFill>
                  <a:srgbClr val="55575A"/>
                </a:solidFill>
                <a:latin typeface="Inter" pitchFamily="34" charset="0"/>
                <a:ea typeface="Inter" pitchFamily="34" charset="-122"/>
                <a:cs typeface="Inter" pitchFamily="34" charset="-120"/>
              </a:rPr>
              <a:t>Answer Confidence</a:t>
            </a:r>
            <a:endParaRPr lang="en-US" sz="1000" dirty="0"/>
          </a:p>
        </p:txBody>
      </p:sp>
      <p:sp>
        <p:nvSpPr>
          <p:cNvPr id="17" name="Text 10"/>
          <p:cNvSpPr/>
          <p:nvPr/>
        </p:nvSpPr>
        <p:spPr>
          <a:xfrm>
            <a:off x="5009778" y="2167533"/>
            <a:ext cx="3387923" cy="276076"/>
          </a:xfrm>
          <a:prstGeom prst="rect">
            <a:avLst/>
          </a:prstGeom>
          <a:noFill/>
          <a:ln/>
        </p:spPr>
        <p:txBody>
          <a:bodyPr wrap="square" lIns="0" tIns="0" rIns="0" bIns="0" rtlCol="0" anchor="t">
            <a:noAutofit/>
          </a:bodyPr>
          <a:lstStyle/>
          <a:p>
            <a:pPr marL="0" indent="0" algn="l">
              <a:lnSpc>
                <a:spcPct val="119000"/>
              </a:lnSpc>
              <a:buNone/>
            </a:pPr>
            <a:r>
              <a:rPr lang="en-US" sz="800" dirty="0">
                <a:solidFill>
                  <a:srgbClr val="55575A"/>
                </a:solidFill>
                <a:latin typeface="Manrope" pitchFamily="34" charset="0"/>
                <a:ea typeface="Manrope" pitchFamily="34" charset="-122"/>
                <a:cs typeface="Manrope" pitchFamily="34" charset="-120"/>
              </a:rPr>
              <a:t>A confidence indicator showing how strongly the evidence supports the answer.</a:t>
            </a:r>
            <a:endParaRPr lang="en-US" sz="800" dirty="0"/>
          </a:p>
        </p:txBody>
      </p:sp>
      <p:pic>
        <p:nvPicPr>
          <p:cNvPr id="18" name="Image 5"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31172" y="2597944"/>
            <a:ext cx="145331" cy="145331"/>
          </a:xfrm>
          <a:prstGeom prst="rect">
            <a:avLst/>
          </a:prstGeom>
        </p:spPr>
      </p:pic>
      <p:sp>
        <p:nvSpPr>
          <p:cNvPr id="19" name="Text 11"/>
          <p:cNvSpPr/>
          <p:nvPr/>
        </p:nvSpPr>
        <p:spPr>
          <a:xfrm>
            <a:off x="5009778" y="2594967"/>
            <a:ext cx="1211387" cy="151433"/>
          </a:xfrm>
          <a:prstGeom prst="rect">
            <a:avLst/>
          </a:prstGeom>
          <a:noFill/>
          <a:ln/>
        </p:spPr>
        <p:txBody>
          <a:bodyPr wrap="none" lIns="0" tIns="0" rIns="0" bIns="0" rtlCol="0" anchor="t"/>
          <a:lstStyle/>
          <a:p>
            <a:pPr marL="0" indent="0" algn="l">
              <a:lnSpc>
                <a:spcPct val="104000"/>
              </a:lnSpc>
              <a:buNone/>
            </a:pPr>
            <a:r>
              <a:rPr lang="en-US" sz="1000" dirty="0">
                <a:solidFill>
                  <a:srgbClr val="55575A"/>
                </a:solidFill>
                <a:latin typeface="Inter" pitchFamily="34" charset="0"/>
                <a:ea typeface="Inter" pitchFamily="34" charset="-122"/>
                <a:cs typeface="Inter" pitchFamily="34" charset="-120"/>
              </a:rPr>
              <a:t>Relevant Evidence</a:t>
            </a:r>
            <a:endParaRPr lang="en-US" sz="1000" dirty="0"/>
          </a:p>
        </p:txBody>
      </p:sp>
      <p:sp>
        <p:nvSpPr>
          <p:cNvPr id="20" name="Text 12"/>
          <p:cNvSpPr/>
          <p:nvPr/>
        </p:nvSpPr>
        <p:spPr>
          <a:xfrm>
            <a:off x="5009778" y="2822079"/>
            <a:ext cx="3387923" cy="276076"/>
          </a:xfrm>
          <a:prstGeom prst="rect">
            <a:avLst/>
          </a:prstGeom>
          <a:noFill/>
          <a:ln/>
        </p:spPr>
        <p:txBody>
          <a:bodyPr wrap="square" lIns="0" tIns="0" rIns="0" bIns="0" rtlCol="0" anchor="t">
            <a:noAutofit/>
          </a:bodyPr>
          <a:lstStyle/>
          <a:p>
            <a:pPr marL="0" indent="0" algn="l">
              <a:lnSpc>
                <a:spcPct val="119000"/>
              </a:lnSpc>
              <a:buNone/>
            </a:pPr>
            <a:r>
              <a:rPr lang="en-US" sz="800" dirty="0">
                <a:solidFill>
                  <a:srgbClr val="55575A"/>
                </a:solidFill>
                <a:latin typeface="Manrope" pitchFamily="34" charset="0"/>
                <a:ea typeface="Manrope" pitchFamily="34" charset="-122"/>
                <a:cs typeface="Manrope" pitchFamily="34" charset="-120"/>
              </a:rPr>
              <a:t>The specific text excerpt from the source document that supports the answer.</a:t>
            </a:r>
            <a:endParaRPr lang="en-US" sz="800" dirty="0"/>
          </a:p>
        </p:txBody>
      </p:sp>
      <p:pic>
        <p:nvPicPr>
          <p:cNvPr id="21" name="Image 6"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31172" y="3252490"/>
            <a:ext cx="145331" cy="145331"/>
          </a:xfrm>
          <a:prstGeom prst="rect">
            <a:avLst/>
          </a:prstGeom>
        </p:spPr>
      </p:pic>
      <p:sp>
        <p:nvSpPr>
          <p:cNvPr id="22" name="Text 13"/>
          <p:cNvSpPr/>
          <p:nvPr/>
        </p:nvSpPr>
        <p:spPr>
          <a:xfrm>
            <a:off x="5009778" y="3249513"/>
            <a:ext cx="1459483" cy="151433"/>
          </a:xfrm>
          <a:prstGeom prst="rect">
            <a:avLst/>
          </a:prstGeom>
          <a:noFill/>
          <a:ln/>
        </p:spPr>
        <p:txBody>
          <a:bodyPr wrap="none" lIns="0" tIns="0" rIns="0" bIns="0" rtlCol="0" anchor="t"/>
          <a:lstStyle/>
          <a:p>
            <a:pPr marL="0" indent="0" algn="l">
              <a:lnSpc>
                <a:spcPct val="104000"/>
              </a:lnSpc>
              <a:buNone/>
            </a:pPr>
            <a:r>
              <a:rPr lang="en-US" sz="1000" dirty="0">
                <a:solidFill>
                  <a:srgbClr val="55575A"/>
                </a:solidFill>
                <a:latin typeface="Inter" pitchFamily="34" charset="0"/>
                <a:ea typeface="Inter" pitchFamily="34" charset="-122"/>
                <a:cs typeface="Inter" pitchFamily="34" charset="-120"/>
              </a:rPr>
              <a:t>Source &amp; Page Reference</a:t>
            </a:r>
            <a:endParaRPr lang="en-US" sz="1000" dirty="0"/>
          </a:p>
        </p:txBody>
      </p:sp>
      <p:sp>
        <p:nvSpPr>
          <p:cNvPr id="23" name="Text 14"/>
          <p:cNvSpPr/>
          <p:nvPr/>
        </p:nvSpPr>
        <p:spPr>
          <a:xfrm>
            <a:off x="5009778" y="3476625"/>
            <a:ext cx="3387923" cy="138038"/>
          </a:xfrm>
          <a:prstGeom prst="rect">
            <a:avLst/>
          </a:prstGeom>
          <a:noFill/>
          <a:ln/>
        </p:spPr>
        <p:txBody>
          <a:bodyPr wrap="none" lIns="0" tIns="0" rIns="0" bIns="0" rtlCol="0" anchor="t"/>
          <a:lstStyle/>
          <a:p>
            <a:pPr marL="0" indent="0" algn="l">
              <a:lnSpc>
                <a:spcPct val="119000"/>
              </a:lnSpc>
              <a:buNone/>
            </a:pPr>
            <a:r>
              <a:rPr lang="en-US" sz="800" dirty="0">
                <a:solidFill>
                  <a:srgbClr val="55575A"/>
                </a:solidFill>
                <a:latin typeface="Manrope" pitchFamily="34" charset="0"/>
                <a:ea typeface="Manrope" pitchFamily="34" charset="-122"/>
                <a:cs typeface="Manrope" pitchFamily="34" charset="-120"/>
              </a:rPr>
              <a:t>Document name and exact page number for full traceability.</a:t>
            </a:r>
            <a:endParaRPr lang="en-US" sz="800" dirty="0"/>
          </a:p>
        </p:txBody>
      </p:sp>
      <p:pic>
        <p:nvPicPr>
          <p:cNvPr id="24" name="Image 7"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31172" y="3768998"/>
            <a:ext cx="145331" cy="145331"/>
          </a:xfrm>
          <a:prstGeom prst="rect">
            <a:avLst/>
          </a:prstGeom>
        </p:spPr>
      </p:pic>
      <p:sp>
        <p:nvSpPr>
          <p:cNvPr id="25" name="Text 15"/>
          <p:cNvSpPr/>
          <p:nvPr/>
        </p:nvSpPr>
        <p:spPr>
          <a:xfrm>
            <a:off x="5009778" y="3766021"/>
            <a:ext cx="1211387" cy="151433"/>
          </a:xfrm>
          <a:prstGeom prst="rect">
            <a:avLst/>
          </a:prstGeom>
          <a:noFill/>
          <a:ln/>
        </p:spPr>
        <p:txBody>
          <a:bodyPr wrap="none" lIns="0" tIns="0" rIns="0" bIns="0" rtlCol="0" anchor="t"/>
          <a:lstStyle/>
          <a:p>
            <a:pPr marL="0" indent="0" algn="l">
              <a:lnSpc>
                <a:spcPct val="104000"/>
              </a:lnSpc>
              <a:buNone/>
            </a:pPr>
            <a:r>
              <a:rPr lang="en-US" sz="1000" dirty="0">
                <a:solidFill>
                  <a:srgbClr val="55575A"/>
                </a:solidFill>
                <a:latin typeface="Inter" pitchFamily="34" charset="0"/>
                <a:ea typeface="Inter" pitchFamily="34" charset="-122"/>
                <a:cs typeface="Inter" pitchFamily="34" charset="-120"/>
              </a:rPr>
              <a:t>Download Option</a:t>
            </a:r>
            <a:endParaRPr lang="en-US" sz="1000" dirty="0"/>
          </a:p>
        </p:txBody>
      </p:sp>
      <p:sp>
        <p:nvSpPr>
          <p:cNvPr id="26" name="Text 16"/>
          <p:cNvSpPr/>
          <p:nvPr/>
        </p:nvSpPr>
        <p:spPr>
          <a:xfrm>
            <a:off x="5009778" y="3993133"/>
            <a:ext cx="3387923" cy="138038"/>
          </a:xfrm>
          <a:prstGeom prst="rect">
            <a:avLst/>
          </a:prstGeom>
          <a:noFill/>
          <a:ln/>
        </p:spPr>
        <p:txBody>
          <a:bodyPr wrap="none" lIns="0" tIns="0" rIns="0" bIns="0" rtlCol="0" anchor="t"/>
          <a:lstStyle/>
          <a:p>
            <a:pPr marL="0" indent="0" algn="l">
              <a:lnSpc>
                <a:spcPct val="119000"/>
              </a:lnSpc>
              <a:buNone/>
            </a:pPr>
            <a:r>
              <a:rPr lang="en-US" sz="800" dirty="0">
                <a:solidFill>
                  <a:srgbClr val="55575A"/>
                </a:solidFill>
                <a:latin typeface="Manrope" pitchFamily="34" charset="0"/>
                <a:ea typeface="Manrope" pitchFamily="34" charset="-122"/>
                <a:cs typeface="Manrope" pitchFamily="34" charset="-120"/>
              </a:rPr>
              <a:t>One-click access to download the original source document.</a:t>
            </a:r>
            <a:endParaRPr lang="en-US" sz="800" dirty="0"/>
          </a:p>
        </p:txBody>
      </p:sp>
      <p:sp>
        <p:nvSpPr>
          <p:cNvPr id="27" name="Shape 17"/>
          <p:cNvSpPr/>
          <p:nvPr/>
        </p:nvSpPr>
        <p:spPr>
          <a:xfrm>
            <a:off x="750912" y="4301430"/>
            <a:ext cx="7642101" cy="460623"/>
          </a:xfrm>
          <a:prstGeom prst="roundRect">
            <a:avLst>
              <a:gd name="adj" fmla="val 18935"/>
            </a:avLst>
          </a:prstGeom>
          <a:solidFill>
            <a:srgbClr val="B6D6FC"/>
          </a:solidFill>
          <a:ln/>
        </p:spPr>
        <p:txBody>
          <a:bodyPr/>
          <a:lstStyle/>
          <a:p>
            <a:endParaRPr sz="2000"/>
          </a:p>
        </p:txBody>
      </p:sp>
      <p:pic>
        <p:nvPicPr>
          <p:cNvPr id="28" name="Image 8" descr="preencoded.png"/>
          <p:cNvPicPr>
            <a:picLocks noChangeAspect="1"/>
          </p:cNvPicPr>
          <p:nvPr/>
        </p:nvPicPr>
        <p:blipFill>
          <a:blip r:embed="rId6"/>
          <a:stretch>
            <a:fillRect/>
          </a:stretch>
        </p:blipFill>
        <p:spPr>
          <a:xfrm>
            <a:off x="847799" y="4428158"/>
            <a:ext cx="121072" cy="96887"/>
          </a:xfrm>
          <a:prstGeom prst="rect">
            <a:avLst/>
          </a:prstGeom>
        </p:spPr>
      </p:pic>
      <p:sp>
        <p:nvSpPr>
          <p:cNvPr id="29" name="Text 18"/>
          <p:cNvSpPr/>
          <p:nvPr/>
        </p:nvSpPr>
        <p:spPr>
          <a:xfrm>
            <a:off x="1065758" y="4393704"/>
            <a:ext cx="7230368" cy="276076"/>
          </a:xfrm>
          <a:prstGeom prst="rect">
            <a:avLst/>
          </a:prstGeom>
          <a:noFill/>
          <a:ln/>
        </p:spPr>
        <p:txBody>
          <a:bodyPr wrap="square" lIns="0" tIns="0" rIns="0" bIns="0" rtlCol="0" anchor="t">
            <a:normAutofit lnSpcReduction="10000"/>
          </a:bodyPr>
          <a:lstStyle/>
          <a:p>
            <a:pPr marL="0" indent="0" algn="l">
              <a:lnSpc>
                <a:spcPct val="119000"/>
              </a:lnSpc>
              <a:buNone/>
            </a:pPr>
            <a:r>
              <a:rPr lang="en-US" sz="800" b="1" dirty="0">
                <a:solidFill>
                  <a:srgbClr val="000000"/>
                </a:solidFill>
                <a:latin typeface="Arial" panose="020B0604020202020204" pitchFamily="34" charset="0"/>
                <a:ea typeface="Manrope" pitchFamily="34" charset="-122"/>
                <a:cs typeface="Arial" panose="020B0604020202020204" pitchFamily="34" charset="0"/>
              </a:rPr>
              <a:t>Key message:</a:t>
            </a:r>
            <a:r>
              <a:rPr lang="en-US" sz="800" dirty="0">
                <a:solidFill>
                  <a:srgbClr val="000000"/>
                </a:solidFill>
                <a:latin typeface="Arial" panose="020B0604020202020204" pitchFamily="34" charset="0"/>
                <a:ea typeface="Manrope" pitchFamily="34" charset="-122"/>
                <a:cs typeface="Arial" panose="020B0604020202020204" pitchFamily="34" charset="0"/>
              </a:rPr>
              <a:t> Every answer is supported by document evidence — making results trustworthy, verifiable, and suitable for enterprise use cases where accuracy is non-negotiable.</a:t>
            </a:r>
            <a:endParaRPr lang="en-US" sz="800" dirty="0">
              <a:latin typeface="Arial" panose="020B0604020202020204" pitchFamily="34" charset="0"/>
              <a:cs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26393" y="294829"/>
            <a:ext cx="3184773" cy="333077"/>
          </a:xfrm>
          <a:prstGeom prst="rect">
            <a:avLst/>
          </a:prstGeom>
          <a:noFill/>
          <a:ln/>
        </p:spPr>
        <p:txBody>
          <a:bodyPr wrap="none" lIns="0" tIns="0" rIns="0" bIns="0" rtlCol="0" anchor="t"/>
          <a:lstStyle/>
          <a:p>
            <a:pPr marL="0" indent="0" algn="l">
              <a:lnSpc>
                <a:spcPct val="104000"/>
              </a:lnSpc>
              <a:buNone/>
            </a:pPr>
            <a:r>
              <a:rPr lang="en-US" sz="2400" dirty="0">
                <a:solidFill>
                  <a:srgbClr val="0C0D0F"/>
                </a:solidFill>
                <a:latin typeface="PT Serif" panose="020A0603040505020204" pitchFamily="18" charset="0"/>
                <a:ea typeface="Inter" pitchFamily="34" charset="-122"/>
                <a:cs typeface="Arial" panose="020B0604020202020204" pitchFamily="34" charset="0"/>
              </a:rPr>
              <a:t>User &amp; Admin System</a:t>
            </a:r>
            <a:endParaRPr lang="en-US" sz="2400" dirty="0">
              <a:latin typeface="PT Serif" panose="020A0603040505020204" pitchFamily="18" charset="0"/>
              <a:cs typeface="Arial" panose="020B0604020202020204" pitchFamily="34" charset="0"/>
            </a:endParaRPr>
          </a:p>
        </p:txBody>
      </p:sp>
      <p:sp>
        <p:nvSpPr>
          <p:cNvPr id="3" name="Text 1"/>
          <p:cNvSpPr/>
          <p:nvPr/>
        </p:nvSpPr>
        <p:spPr>
          <a:xfrm>
            <a:off x="426393" y="811113"/>
            <a:ext cx="8291215" cy="317153"/>
          </a:xfrm>
          <a:prstGeom prst="rect">
            <a:avLst/>
          </a:prstGeom>
          <a:noFill/>
          <a:ln/>
        </p:spPr>
        <p:txBody>
          <a:bodyPr wrap="square" lIns="0" tIns="0" rIns="0" bIns="0" rtlCol="0" anchor="t">
            <a:noAutofit/>
          </a:bodyPr>
          <a:lstStyle/>
          <a:p>
            <a:pPr marL="0" indent="0" algn="l">
              <a:lnSpc>
                <a:spcPct val="124000"/>
              </a:lnSpc>
              <a:buNone/>
            </a:pPr>
            <a:r>
              <a:rPr lang="en-US" sz="900" dirty="0">
                <a:solidFill>
                  <a:srgbClr val="55575A"/>
                </a:solidFill>
                <a:latin typeface="Arial" panose="020B0604020202020204" pitchFamily="34" charset="0"/>
                <a:ea typeface="Manrope" pitchFamily="34" charset="-122"/>
                <a:cs typeface="Arial" panose="020B0604020202020204" pitchFamily="34" charset="0"/>
              </a:rPr>
              <a:t>DocAI supports a dual-role architecture designed for both everyday employees and system administrators. Each role has a tailored experience that balances ease of use with operational oversight — ensuring the platform serves the full organization effectively.</a:t>
            </a:r>
            <a:endParaRPr lang="en-US" sz="900" dirty="0">
              <a:latin typeface="Arial" panose="020B0604020202020204" pitchFamily="34" charset="0"/>
              <a:cs typeface="Arial" panose="020B0604020202020204" pitchFamily="34" charset="0"/>
            </a:endParaRPr>
          </a:p>
        </p:txBody>
      </p:sp>
      <p:sp>
        <p:nvSpPr>
          <p:cNvPr id="4" name="Shape 2"/>
          <p:cNvSpPr/>
          <p:nvPr/>
        </p:nvSpPr>
        <p:spPr>
          <a:xfrm>
            <a:off x="349672" y="1231255"/>
            <a:ext cx="4169048" cy="2876178"/>
          </a:xfrm>
          <a:prstGeom prst="roundRect">
            <a:avLst>
              <a:gd name="adj" fmla="val 5337"/>
            </a:avLst>
          </a:prstGeom>
          <a:solidFill>
            <a:srgbClr val="FF7047"/>
          </a:solidFill>
          <a:ln/>
        </p:spPr>
        <p:txBody>
          <a:bodyPr/>
          <a:lstStyle/>
          <a:p>
            <a:endParaRPr sz="2000">
              <a:latin typeface="Arial" panose="020B0604020202020204" pitchFamily="34" charset="0"/>
              <a:cs typeface="Arial" panose="020B0604020202020204" pitchFamily="34" charset="0"/>
            </a:endParaRPr>
          </a:p>
        </p:txBody>
      </p:sp>
      <p:sp>
        <p:nvSpPr>
          <p:cNvPr id="5" name="Text 3"/>
          <p:cNvSpPr/>
          <p:nvPr/>
        </p:nvSpPr>
        <p:spPr>
          <a:xfrm>
            <a:off x="456233" y="1322859"/>
            <a:ext cx="1789658" cy="166539"/>
          </a:xfrm>
          <a:prstGeom prst="rect">
            <a:avLst/>
          </a:prstGeom>
          <a:noFill/>
          <a:ln/>
        </p:spPr>
        <p:txBody>
          <a:bodyPr wrap="none" lIns="0" tIns="0" rIns="0" bIns="0" rtlCol="0" anchor="t"/>
          <a:lstStyle/>
          <a:p>
            <a:pPr marL="0" indent="0" algn="l">
              <a:lnSpc>
                <a:spcPct val="104000"/>
              </a:lnSpc>
              <a:buNone/>
            </a:pPr>
            <a:r>
              <a:rPr lang="en-US" sz="1050" dirty="0">
                <a:solidFill>
                  <a:srgbClr val="0C0D0F"/>
                </a:solidFill>
                <a:latin typeface="Arial" panose="020B0604020202020204" pitchFamily="34" charset="0"/>
                <a:ea typeface="Inter" pitchFamily="34" charset="-122"/>
                <a:cs typeface="Arial" panose="020B0604020202020204" pitchFamily="34" charset="0"/>
              </a:rPr>
              <a:t>User Features</a:t>
            </a:r>
            <a:endParaRPr lang="en-US" sz="1050" dirty="0">
              <a:latin typeface="Arial" panose="020B0604020202020204" pitchFamily="34" charset="0"/>
              <a:cs typeface="Arial" panose="020B0604020202020204" pitchFamily="34" charset="0"/>
            </a:endParaRPr>
          </a:p>
        </p:txBody>
      </p:sp>
      <p:sp>
        <p:nvSpPr>
          <p:cNvPr id="6" name="Text 4"/>
          <p:cNvSpPr/>
          <p:nvPr/>
        </p:nvSpPr>
        <p:spPr>
          <a:xfrm>
            <a:off x="456233" y="1581001"/>
            <a:ext cx="3955926" cy="317153"/>
          </a:xfrm>
          <a:prstGeom prst="rect">
            <a:avLst/>
          </a:prstGeom>
          <a:noFill/>
          <a:ln/>
        </p:spPr>
        <p:txBody>
          <a:bodyPr wrap="square" lIns="0" tIns="0" rIns="0" bIns="0" rtlCol="0" anchor="t">
            <a:noAutofit/>
          </a:bodyPr>
          <a:lstStyle/>
          <a:p>
            <a:pPr marL="0" indent="0" algn="l">
              <a:lnSpc>
                <a:spcPct val="124000"/>
              </a:lnSpc>
              <a:buNone/>
            </a:pPr>
            <a:r>
              <a:rPr lang="en-US" sz="900" dirty="0">
                <a:solidFill>
                  <a:srgbClr val="000000"/>
                </a:solidFill>
                <a:latin typeface="Arial" panose="020B0604020202020204" pitchFamily="34" charset="0"/>
                <a:ea typeface="Manrope" pitchFamily="34" charset="-122"/>
                <a:cs typeface="Arial" panose="020B0604020202020204" pitchFamily="34" charset="0"/>
              </a:rPr>
              <a:t>Employees interact with DocAI through a streamlined, intuitive interface focused on knowledge retrieval:</a:t>
            </a:r>
            <a:endParaRPr lang="en-US" sz="900" dirty="0">
              <a:latin typeface="Arial" panose="020B0604020202020204" pitchFamily="34" charset="0"/>
              <a:cs typeface="Arial" panose="020B0604020202020204" pitchFamily="34" charset="0"/>
            </a:endParaRPr>
          </a:p>
        </p:txBody>
      </p:sp>
      <p:sp>
        <p:nvSpPr>
          <p:cNvPr id="7" name="Text 5"/>
          <p:cNvSpPr/>
          <p:nvPr/>
        </p:nvSpPr>
        <p:spPr>
          <a:xfrm>
            <a:off x="456233" y="1980530"/>
            <a:ext cx="3955926" cy="1206029"/>
          </a:xfrm>
          <a:prstGeom prst="rect">
            <a:avLst/>
          </a:prstGeom>
          <a:noFill/>
          <a:ln/>
        </p:spPr>
        <p:txBody>
          <a:bodyPr wrap="square" lIns="0" tIns="0" rIns="0" bIns="0" rtlCol="0" anchor="t">
            <a:noAutofit/>
          </a:bodyPr>
          <a:lstStyle/>
          <a:p>
            <a:pPr marL="342900" indent="-342900" algn="l">
              <a:lnSpc>
                <a:spcPct val="124000"/>
              </a:lnSpc>
              <a:buSzPct val="100000"/>
              <a:buChar char="•"/>
            </a:pPr>
            <a:r>
              <a:rPr lang="en-US" sz="900" b="1" dirty="0">
                <a:solidFill>
                  <a:srgbClr val="000000"/>
                </a:solidFill>
                <a:latin typeface="Arial" panose="020B0604020202020204" pitchFamily="34" charset="0"/>
                <a:ea typeface="Manrope" pitchFamily="34" charset="-122"/>
                <a:cs typeface="Arial" panose="020B0604020202020204" pitchFamily="34" charset="0"/>
              </a:rPr>
              <a:t>Signup &amp; Login</a:t>
            </a:r>
            <a:r>
              <a:rPr lang="en-US" sz="900" dirty="0">
                <a:solidFill>
                  <a:srgbClr val="000000"/>
                </a:solidFill>
                <a:latin typeface="Arial" panose="020B0604020202020204" pitchFamily="34" charset="0"/>
                <a:ea typeface="Manrope" pitchFamily="34" charset="-122"/>
                <a:cs typeface="Arial" panose="020B0604020202020204" pitchFamily="34" charset="0"/>
              </a:rPr>
              <a:t> — Secure authentication with profile management and password controls</a:t>
            </a:r>
            <a:endParaRPr lang="en-US" sz="900" dirty="0">
              <a:latin typeface="Arial" panose="020B0604020202020204" pitchFamily="34" charset="0"/>
              <a:cs typeface="Arial" panose="020B0604020202020204" pitchFamily="34" charset="0"/>
            </a:endParaRPr>
          </a:p>
          <a:p>
            <a:pPr marL="342900" indent="-342900" algn="l">
              <a:lnSpc>
                <a:spcPct val="124000"/>
              </a:lnSpc>
              <a:buSzPct val="100000"/>
              <a:buChar char="•"/>
            </a:pPr>
            <a:r>
              <a:rPr lang="en-US" sz="900" b="1" dirty="0">
                <a:solidFill>
                  <a:srgbClr val="000000"/>
                </a:solidFill>
                <a:latin typeface="Arial" panose="020B0604020202020204" pitchFamily="34" charset="0"/>
                <a:ea typeface="Manrope" pitchFamily="34" charset="-122"/>
                <a:cs typeface="Arial" panose="020B0604020202020204" pitchFamily="34" charset="0"/>
              </a:rPr>
              <a:t>Ask Questions</a:t>
            </a:r>
            <a:r>
              <a:rPr lang="en-US" sz="900" dirty="0">
                <a:solidFill>
                  <a:srgbClr val="000000"/>
                </a:solidFill>
                <a:latin typeface="Arial" panose="020B0604020202020204" pitchFamily="34" charset="0"/>
                <a:ea typeface="Manrope" pitchFamily="34" charset="-122"/>
                <a:cs typeface="Arial" panose="020B0604020202020204" pitchFamily="34" charset="0"/>
              </a:rPr>
              <a:t> — Natural language queries across the full document library or specific files</a:t>
            </a:r>
            <a:endParaRPr lang="en-US" sz="900" dirty="0">
              <a:latin typeface="Arial" panose="020B0604020202020204" pitchFamily="34" charset="0"/>
              <a:cs typeface="Arial" panose="020B0604020202020204" pitchFamily="34" charset="0"/>
            </a:endParaRPr>
          </a:p>
          <a:p>
            <a:pPr marL="342900" indent="-342900" algn="l">
              <a:lnSpc>
                <a:spcPct val="124000"/>
              </a:lnSpc>
              <a:buSzPct val="100000"/>
              <a:buChar char="•"/>
            </a:pPr>
            <a:r>
              <a:rPr lang="en-US" sz="900" b="1" dirty="0">
                <a:solidFill>
                  <a:srgbClr val="000000"/>
                </a:solidFill>
                <a:latin typeface="Arial" panose="020B0604020202020204" pitchFamily="34" charset="0"/>
                <a:ea typeface="Manrope" pitchFamily="34" charset="-122"/>
                <a:cs typeface="Arial" panose="020B0604020202020204" pitchFamily="34" charset="0"/>
              </a:rPr>
              <a:t>Search History</a:t>
            </a:r>
            <a:r>
              <a:rPr lang="en-US" sz="900" dirty="0">
                <a:solidFill>
                  <a:srgbClr val="000000"/>
                </a:solidFill>
                <a:latin typeface="Arial" panose="020B0604020202020204" pitchFamily="34" charset="0"/>
                <a:ea typeface="Manrope" pitchFamily="34" charset="-122"/>
                <a:cs typeface="Arial" panose="020B0604020202020204" pitchFamily="34" charset="0"/>
              </a:rPr>
              <a:t> — Personal history of past queries for continuity and reference</a:t>
            </a:r>
            <a:endParaRPr lang="en-US" sz="900" dirty="0">
              <a:latin typeface="Arial" panose="020B0604020202020204" pitchFamily="34" charset="0"/>
              <a:cs typeface="Arial" panose="020B0604020202020204" pitchFamily="34" charset="0"/>
            </a:endParaRPr>
          </a:p>
          <a:p>
            <a:pPr marL="342900" indent="-342900" algn="l">
              <a:lnSpc>
                <a:spcPct val="124000"/>
              </a:lnSpc>
              <a:buSzPct val="100000"/>
              <a:buChar char="•"/>
            </a:pPr>
            <a:r>
              <a:rPr lang="en-US" sz="900" b="1" dirty="0">
                <a:solidFill>
                  <a:srgbClr val="000000"/>
                </a:solidFill>
                <a:latin typeface="Arial" panose="020B0604020202020204" pitchFamily="34" charset="0"/>
                <a:ea typeface="Manrope" pitchFamily="34" charset="-122"/>
                <a:cs typeface="Arial" panose="020B0604020202020204" pitchFamily="34" charset="0"/>
              </a:rPr>
              <a:t>Download Sources</a:t>
            </a:r>
            <a:r>
              <a:rPr lang="en-US" sz="900" dirty="0">
                <a:solidFill>
                  <a:srgbClr val="000000"/>
                </a:solidFill>
                <a:latin typeface="Arial" panose="020B0604020202020204" pitchFamily="34" charset="0"/>
                <a:ea typeface="Manrope" pitchFamily="34" charset="-122"/>
                <a:cs typeface="Arial" panose="020B0604020202020204" pitchFamily="34" charset="0"/>
              </a:rPr>
              <a:t> — Direct access to original documents cited in answers</a:t>
            </a:r>
            <a:endParaRPr lang="en-US" sz="900" dirty="0">
              <a:latin typeface="Arial" panose="020B0604020202020204" pitchFamily="34" charset="0"/>
              <a:cs typeface="Arial" panose="020B0604020202020204" pitchFamily="34" charset="0"/>
            </a:endParaRPr>
          </a:p>
        </p:txBody>
      </p:sp>
      <p:sp>
        <p:nvSpPr>
          <p:cNvPr id="8" name="Text 6"/>
          <p:cNvSpPr/>
          <p:nvPr/>
        </p:nvSpPr>
        <p:spPr>
          <a:xfrm>
            <a:off x="4706764" y="1322859"/>
            <a:ext cx="1789658" cy="166539"/>
          </a:xfrm>
          <a:prstGeom prst="rect">
            <a:avLst/>
          </a:prstGeom>
          <a:noFill/>
          <a:ln/>
        </p:spPr>
        <p:txBody>
          <a:bodyPr wrap="none" lIns="0" tIns="0" rIns="0" bIns="0" rtlCol="0" anchor="t"/>
          <a:lstStyle/>
          <a:p>
            <a:pPr marL="0" indent="0" algn="l">
              <a:lnSpc>
                <a:spcPct val="104000"/>
              </a:lnSpc>
              <a:buNone/>
            </a:pPr>
            <a:r>
              <a:rPr lang="en-US" sz="1050" dirty="0">
                <a:solidFill>
                  <a:srgbClr val="0C0D0F"/>
                </a:solidFill>
                <a:latin typeface="Arial" panose="020B0604020202020204" pitchFamily="34" charset="0"/>
                <a:ea typeface="Inter" pitchFamily="34" charset="-122"/>
                <a:cs typeface="Arial" panose="020B0604020202020204" pitchFamily="34" charset="0"/>
              </a:rPr>
              <a:t>Admin Features</a:t>
            </a:r>
            <a:endParaRPr lang="en-US" sz="1050" dirty="0">
              <a:latin typeface="Arial" panose="020B0604020202020204" pitchFamily="34" charset="0"/>
              <a:cs typeface="Arial" panose="020B0604020202020204" pitchFamily="34" charset="0"/>
            </a:endParaRPr>
          </a:p>
        </p:txBody>
      </p:sp>
      <p:sp>
        <p:nvSpPr>
          <p:cNvPr id="9" name="Text 7"/>
          <p:cNvSpPr/>
          <p:nvPr/>
        </p:nvSpPr>
        <p:spPr>
          <a:xfrm>
            <a:off x="4706764" y="1581001"/>
            <a:ext cx="4015606" cy="317153"/>
          </a:xfrm>
          <a:prstGeom prst="rect">
            <a:avLst/>
          </a:prstGeom>
          <a:noFill/>
          <a:ln/>
        </p:spPr>
        <p:txBody>
          <a:bodyPr wrap="square" lIns="0" tIns="0" rIns="0" bIns="0" rtlCol="0" anchor="t">
            <a:noAutofit/>
          </a:bodyPr>
          <a:lstStyle/>
          <a:p>
            <a:pPr marL="0" indent="0" algn="l">
              <a:lnSpc>
                <a:spcPct val="124000"/>
              </a:lnSpc>
              <a:buNone/>
            </a:pPr>
            <a:r>
              <a:rPr lang="en-US" sz="900" dirty="0">
                <a:solidFill>
                  <a:srgbClr val="55575A"/>
                </a:solidFill>
                <a:latin typeface="Arial" panose="020B0604020202020204" pitchFamily="34" charset="0"/>
                <a:ea typeface="Manrope" pitchFamily="34" charset="-122"/>
                <a:cs typeface="Arial" panose="020B0604020202020204" pitchFamily="34" charset="0"/>
              </a:rPr>
              <a:t>Administrators have access to a comprehensive management layer that provides full visibility and control over the knowledge system:</a:t>
            </a:r>
            <a:endParaRPr lang="en-US" sz="900" dirty="0">
              <a:latin typeface="Arial" panose="020B0604020202020204" pitchFamily="34" charset="0"/>
              <a:cs typeface="Arial" panose="020B0604020202020204" pitchFamily="34" charset="0"/>
            </a:endParaRPr>
          </a:p>
        </p:txBody>
      </p:sp>
      <p:sp>
        <p:nvSpPr>
          <p:cNvPr id="10" name="Text 8"/>
          <p:cNvSpPr/>
          <p:nvPr/>
        </p:nvSpPr>
        <p:spPr>
          <a:xfrm>
            <a:off x="4706764" y="1980530"/>
            <a:ext cx="4015606" cy="2229892"/>
          </a:xfrm>
          <a:prstGeom prst="rect">
            <a:avLst/>
          </a:prstGeom>
          <a:noFill/>
          <a:ln/>
        </p:spPr>
        <p:txBody>
          <a:bodyPr wrap="square" lIns="0" tIns="0" rIns="0" bIns="0" rtlCol="0" anchor="t">
            <a:noAutofit/>
          </a:bodyPr>
          <a:lstStyle/>
          <a:p>
            <a:pPr marL="342900" indent="-342900" algn="l">
              <a:lnSpc>
                <a:spcPct val="124000"/>
              </a:lnSpc>
              <a:buSzPct val="100000"/>
              <a:buChar char="•"/>
            </a:pPr>
            <a:r>
              <a:rPr lang="en-US" sz="900" b="1" dirty="0">
                <a:solidFill>
                  <a:srgbClr val="55575A"/>
                </a:solidFill>
                <a:latin typeface="Arial" panose="020B0604020202020204" pitchFamily="34" charset="0"/>
                <a:ea typeface="Manrope" pitchFamily="34" charset="-122"/>
                <a:cs typeface="Arial" panose="020B0604020202020204" pitchFamily="34" charset="0"/>
              </a:rPr>
              <a:t>Separate Admin Login</a:t>
            </a:r>
            <a:r>
              <a:rPr lang="en-US" sz="900" dirty="0">
                <a:solidFill>
                  <a:srgbClr val="55575A"/>
                </a:solidFill>
                <a:latin typeface="Arial" panose="020B0604020202020204" pitchFamily="34" charset="0"/>
                <a:ea typeface="Manrope" pitchFamily="34" charset="-122"/>
                <a:cs typeface="Arial" panose="020B0604020202020204" pitchFamily="34" charset="0"/>
              </a:rPr>
              <a:t> — Dedicated authentication and access control for administrators</a:t>
            </a:r>
            <a:endParaRPr lang="en-US" sz="900" dirty="0">
              <a:latin typeface="Arial" panose="020B0604020202020204" pitchFamily="34" charset="0"/>
              <a:cs typeface="Arial" panose="020B0604020202020204" pitchFamily="34" charset="0"/>
            </a:endParaRPr>
          </a:p>
          <a:p>
            <a:pPr marL="342900" indent="-342900" algn="l">
              <a:lnSpc>
                <a:spcPct val="124000"/>
              </a:lnSpc>
              <a:buSzPct val="100000"/>
              <a:buChar char="•"/>
            </a:pPr>
            <a:r>
              <a:rPr lang="en-US" sz="900" b="1" dirty="0">
                <a:solidFill>
                  <a:srgbClr val="55575A"/>
                </a:solidFill>
                <a:latin typeface="Arial" panose="020B0604020202020204" pitchFamily="34" charset="0"/>
                <a:ea typeface="Manrope" pitchFamily="34" charset="-122"/>
                <a:cs typeface="Arial" panose="020B0604020202020204" pitchFamily="34" charset="0"/>
              </a:rPr>
              <a:t>User Management</a:t>
            </a:r>
            <a:r>
              <a:rPr lang="en-US" sz="900" dirty="0">
                <a:solidFill>
                  <a:srgbClr val="55575A"/>
                </a:solidFill>
                <a:latin typeface="Arial" panose="020B0604020202020204" pitchFamily="34" charset="0"/>
                <a:ea typeface="Manrope" pitchFamily="34" charset="-122"/>
                <a:cs typeface="Arial" panose="020B0604020202020204" pitchFamily="34" charset="0"/>
              </a:rPr>
              <a:t> — Manage user accounts, permissions, and access levels</a:t>
            </a:r>
            <a:endParaRPr lang="en-US" sz="900" dirty="0">
              <a:latin typeface="Arial" panose="020B0604020202020204" pitchFamily="34" charset="0"/>
              <a:cs typeface="Arial" panose="020B0604020202020204" pitchFamily="34" charset="0"/>
            </a:endParaRPr>
          </a:p>
          <a:p>
            <a:pPr marL="342900" indent="-342900" algn="l">
              <a:lnSpc>
                <a:spcPct val="124000"/>
              </a:lnSpc>
              <a:buSzPct val="100000"/>
              <a:buChar char="•"/>
            </a:pPr>
            <a:r>
              <a:rPr lang="en-US" sz="900" b="1" dirty="0">
                <a:solidFill>
                  <a:srgbClr val="55575A"/>
                </a:solidFill>
                <a:latin typeface="Arial" panose="020B0604020202020204" pitchFamily="34" charset="0"/>
                <a:ea typeface="Manrope" pitchFamily="34" charset="-122"/>
                <a:cs typeface="Arial" panose="020B0604020202020204" pitchFamily="34" charset="0"/>
              </a:rPr>
              <a:t>Search Analytics</a:t>
            </a:r>
            <a:r>
              <a:rPr lang="en-US" sz="900" dirty="0">
                <a:solidFill>
                  <a:srgbClr val="55575A"/>
                </a:solidFill>
                <a:latin typeface="Arial" panose="020B0604020202020204" pitchFamily="34" charset="0"/>
                <a:ea typeface="Manrope" pitchFamily="34" charset="-122"/>
                <a:cs typeface="Arial" panose="020B0604020202020204" pitchFamily="34" charset="0"/>
              </a:rPr>
              <a:t> — Monitor what users are searching for and identify knowledge demand patterns</a:t>
            </a:r>
            <a:endParaRPr lang="en-US" sz="900" dirty="0">
              <a:latin typeface="Arial" panose="020B0604020202020204" pitchFamily="34" charset="0"/>
              <a:cs typeface="Arial" panose="020B0604020202020204" pitchFamily="34" charset="0"/>
            </a:endParaRPr>
          </a:p>
          <a:p>
            <a:pPr marL="342900" indent="-342900" algn="l">
              <a:lnSpc>
                <a:spcPct val="124000"/>
              </a:lnSpc>
              <a:buSzPct val="100000"/>
              <a:buChar char="•"/>
            </a:pPr>
            <a:r>
              <a:rPr lang="en-US" sz="900" b="1" dirty="0">
                <a:solidFill>
                  <a:srgbClr val="55575A"/>
                </a:solidFill>
                <a:latin typeface="Arial" panose="020B0604020202020204" pitchFamily="34" charset="0"/>
                <a:ea typeface="Manrope" pitchFamily="34" charset="-122"/>
                <a:cs typeface="Arial" panose="020B0604020202020204" pitchFamily="34" charset="0"/>
              </a:rPr>
              <a:t>Download Analytics</a:t>
            </a:r>
            <a:r>
              <a:rPr lang="en-US" sz="900" dirty="0">
                <a:solidFill>
                  <a:srgbClr val="55575A"/>
                </a:solidFill>
                <a:latin typeface="Arial" panose="020B0604020202020204" pitchFamily="34" charset="0"/>
                <a:ea typeface="Manrope" pitchFamily="34" charset="-122"/>
                <a:cs typeface="Arial" panose="020B0604020202020204" pitchFamily="34" charset="0"/>
              </a:rPr>
              <a:t> — Track which documents are most accessed and referenced</a:t>
            </a:r>
            <a:endParaRPr lang="en-US" sz="900" dirty="0">
              <a:latin typeface="Arial" panose="020B0604020202020204" pitchFamily="34" charset="0"/>
              <a:cs typeface="Arial" panose="020B0604020202020204" pitchFamily="34" charset="0"/>
            </a:endParaRPr>
          </a:p>
          <a:p>
            <a:pPr marL="342900" indent="-342900" algn="l">
              <a:lnSpc>
                <a:spcPct val="124000"/>
              </a:lnSpc>
              <a:buSzPct val="100000"/>
              <a:buChar char="•"/>
            </a:pPr>
            <a:r>
              <a:rPr lang="en-US" sz="900" b="1" dirty="0">
                <a:solidFill>
                  <a:srgbClr val="55575A"/>
                </a:solidFill>
                <a:latin typeface="Arial" panose="020B0604020202020204" pitchFamily="34" charset="0"/>
                <a:ea typeface="Manrope" pitchFamily="34" charset="-122"/>
                <a:cs typeface="Arial" panose="020B0604020202020204" pitchFamily="34" charset="0"/>
              </a:rPr>
              <a:t>Review Queue</a:t>
            </a:r>
            <a:r>
              <a:rPr lang="en-US" sz="900" dirty="0">
                <a:solidFill>
                  <a:srgbClr val="55575A"/>
                </a:solidFill>
                <a:latin typeface="Arial" panose="020B0604020202020204" pitchFamily="34" charset="0"/>
                <a:ea typeface="Manrope" pitchFamily="34" charset="-122"/>
                <a:cs typeface="Arial" panose="020B0604020202020204" pitchFamily="34" charset="0"/>
              </a:rPr>
              <a:t> — Audit low-confidence answers and flag content for improvement</a:t>
            </a:r>
            <a:endParaRPr lang="en-US" sz="900" dirty="0">
              <a:latin typeface="Arial" panose="020B0604020202020204" pitchFamily="34" charset="0"/>
              <a:cs typeface="Arial" panose="020B0604020202020204" pitchFamily="34" charset="0"/>
            </a:endParaRPr>
          </a:p>
          <a:p>
            <a:pPr marL="342900" indent="-342900" algn="l">
              <a:lnSpc>
                <a:spcPct val="124000"/>
              </a:lnSpc>
              <a:buSzPct val="100000"/>
              <a:buChar char="•"/>
            </a:pPr>
            <a:r>
              <a:rPr lang="en-US" sz="900" b="1" dirty="0">
                <a:solidFill>
                  <a:srgbClr val="55575A"/>
                </a:solidFill>
                <a:latin typeface="Arial" panose="020B0604020202020204" pitchFamily="34" charset="0"/>
                <a:ea typeface="Manrope" pitchFamily="34" charset="-122"/>
                <a:cs typeface="Arial" panose="020B0604020202020204" pitchFamily="34" charset="0"/>
              </a:rPr>
              <a:t>System Logs</a:t>
            </a:r>
            <a:r>
              <a:rPr lang="en-US" sz="900" dirty="0">
                <a:solidFill>
                  <a:srgbClr val="55575A"/>
                </a:solidFill>
                <a:latin typeface="Arial" panose="020B0604020202020204" pitchFamily="34" charset="0"/>
                <a:ea typeface="Manrope" pitchFamily="34" charset="-122"/>
                <a:cs typeface="Arial" panose="020B0604020202020204" pitchFamily="34" charset="0"/>
              </a:rPr>
              <a:t> — Full audit trail of platform activity and system events</a:t>
            </a:r>
            <a:endParaRPr lang="en-US" sz="900" dirty="0">
              <a:latin typeface="Arial" panose="020B0604020202020204" pitchFamily="34" charset="0"/>
              <a:cs typeface="Arial" panose="020B0604020202020204" pitchFamily="34" charset="0"/>
            </a:endParaRPr>
          </a:p>
          <a:p>
            <a:pPr marL="342900" indent="-342900" algn="l">
              <a:lnSpc>
                <a:spcPct val="124000"/>
              </a:lnSpc>
              <a:buSzPct val="100000"/>
              <a:buChar char="•"/>
            </a:pPr>
            <a:r>
              <a:rPr lang="en-US" sz="900" b="1" dirty="0">
                <a:solidFill>
                  <a:srgbClr val="55575A"/>
                </a:solidFill>
                <a:latin typeface="Arial" panose="020B0604020202020204" pitchFamily="34" charset="0"/>
                <a:ea typeface="Manrope" pitchFamily="34" charset="-122"/>
                <a:cs typeface="Arial" panose="020B0604020202020204" pitchFamily="34" charset="0"/>
              </a:rPr>
              <a:t>Knowledge Quality Monitoring</a:t>
            </a:r>
            <a:r>
              <a:rPr lang="en-US" sz="900" dirty="0">
                <a:solidFill>
                  <a:srgbClr val="55575A"/>
                </a:solidFill>
                <a:latin typeface="Arial" panose="020B0604020202020204" pitchFamily="34" charset="0"/>
                <a:ea typeface="Manrope" pitchFamily="34" charset="-122"/>
                <a:cs typeface="Arial" panose="020B0604020202020204" pitchFamily="34" charset="0"/>
              </a:rPr>
              <a:t> — Ongoing oversight of document health, conflicts, and gaps</a:t>
            </a:r>
            <a:endParaRPr lang="en-US" sz="900" dirty="0">
              <a:latin typeface="Arial" panose="020B0604020202020204" pitchFamily="34" charset="0"/>
              <a:cs typeface="Arial" panose="020B0604020202020204" pitchFamily="34" charset="0"/>
            </a:endParaRPr>
          </a:p>
        </p:txBody>
      </p:sp>
      <p:sp>
        <p:nvSpPr>
          <p:cNvPr id="11" name="Shape 9"/>
          <p:cNvSpPr/>
          <p:nvPr/>
        </p:nvSpPr>
        <p:spPr>
          <a:xfrm>
            <a:off x="426393" y="4210422"/>
            <a:ext cx="8291215" cy="535186"/>
          </a:xfrm>
          <a:prstGeom prst="roundRect">
            <a:avLst>
              <a:gd name="adj" fmla="val 17927"/>
            </a:avLst>
          </a:prstGeom>
          <a:solidFill>
            <a:srgbClr val="B6FCB8"/>
          </a:solidFill>
          <a:ln/>
        </p:spPr>
        <p:txBody>
          <a:bodyPr/>
          <a:lstStyle/>
          <a:p>
            <a:endParaRPr sz="2000">
              <a:latin typeface="Arial" panose="020B0604020202020204" pitchFamily="34" charset="0"/>
              <a:cs typeface="Arial" panose="020B0604020202020204" pitchFamily="34" charset="0"/>
            </a:endParaRPr>
          </a:p>
        </p:txBody>
      </p:sp>
      <p:pic>
        <p:nvPicPr>
          <p:cNvPr id="12" name="Image 0" descr="preencoded.png"/>
          <p:cNvPicPr>
            <a:picLocks noChangeAspect="1"/>
          </p:cNvPicPr>
          <p:nvPr/>
        </p:nvPicPr>
        <p:blipFill>
          <a:blip r:embed="rId3"/>
          <a:stretch>
            <a:fillRect/>
          </a:stretch>
        </p:blipFill>
        <p:spPr>
          <a:xfrm>
            <a:off x="532954" y="4359920"/>
            <a:ext cx="133201" cy="106561"/>
          </a:xfrm>
          <a:prstGeom prst="rect">
            <a:avLst/>
          </a:prstGeom>
        </p:spPr>
      </p:pic>
      <p:sp>
        <p:nvSpPr>
          <p:cNvPr id="13" name="Text 10"/>
          <p:cNvSpPr/>
          <p:nvPr/>
        </p:nvSpPr>
        <p:spPr>
          <a:xfrm>
            <a:off x="772716" y="4319439"/>
            <a:ext cx="7838331" cy="317153"/>
          </a:xfrm>
          <a:prstGeom prst="rect">
            <a:avLst/>
          </a:prstGeom>
          <a:noFill/>
          <a:ln/>
        </p:spPr>
        <p:txBody>
          <a:bodyPr wrap="square" lIns="0" tIns="0" rIns="0" bIns="0" rtlCol="0" anchor="t">
            <a:normAutofit fontScale="92500" lnSpcReduction="10000"/>
          </a:bodyPr>
          <a:lstStyle/>
          <a:p>
            <a:pPr marL="0" indent="0" algn="l">
              <a:lnSpc>
                <a:spcPct val="124000"/>
              </a:lnSpc>
              <a:buNone/>
            </a:pPr>
            <a:r>
              <a:rPr lang="en-US" sz="1000" b="1" dirty="0">
                <a:solidFill>
                  <a:srgbClr val="000000"/>
                </a:solidFill>
                <a:latin typeface="Arial" panose="020B0604020202020204" pitchFamily="34" charset="0"/>
                <a:ea typeface="Manrope" pitchFamily="34" charset="-122"/>
                <a:cs typeface="Arial" panose="020B0604020202020204" pitchFamily="34" charset="0"/>
              </a:rPr>
              <a:t>Key Message :</a:t>
            </a:r>
            <a:r>
              <a:rPr lang="en-US" sz="1000" dirty="0">
                <a:solidFill>
                  <a:srgbClr val="000000"/>
                </a:solidFill>
                <a:latin typeface="Arial" panose="020B0604020202020204" pitchFamily="34" charset="0"/>
                <a:ea typeface="Manrope" pitchFamily="34" charset="-122"/>
                <a:cs typeface="Arial" panose="020B0604020202020204" pitchFamily="34" charset="0"/>
              </a:rPr>
              <a:t> DocAI supports both employees and administrators in a company environment — combining intuitive end-user experience with robust enterprise-grade management tools.</a:t>
            </a:r>
            <a:endParaRPr lang="en-US" sz="1000" dirty="0">
              <a:latin typeface="Arial" panose="020B0604020202020204" pitchFamily="34" charset="0"/>
              <a:cs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50912" y="275630"/>
            <a:ext cx="4177680" cy="302865"/>
          </a:xfrm>
          <a:prstGeom prst="rect">
            <a:avLst/>
          </a:prstGeom>
          <a:noFill/>
          <a:ln/>
        </p:spPr>
        <p:txBody>
          <a:bodyPr wrap="none" lIns="0" tIns="0" rIns="0" bIns="0" rtlCol="0" anchor="t"/>
          <a:lstStyle/>
          <a:p>
            <a:pPr marL="0" indent="0" algn="l">
              <a:lnSpc>
                <a:spcPct val="104000"/>
              </a:lnSpc>
              <a:buNone/>
            </a:pPr>
            <a:r>
              <a:rPr lang="en-US" sz="2000" dirty="0">
                <a:solidFill>
                  <a:srgbClr val="0C0D0F"/>
                </a:solidFill>
                <a:latin typeface="PT Serif" panose="020A0603040505020204" pitchFamily="18" charset="0"/>
                <a:ea typeface="Inter" pitchFamily="34" charset="-122"/>
                <a:cs typeface="Arial" panose="020B0604020202020204" pitchFamily="34" charset="0"/>
              </a:rPr>
              <a:t>Knowledge Quality Management</a:t>
            </a:r>
            <a:endParaRPr lang="en-US" sz="2000" dirty="0">
              <a:latin typeface="PT Serif" panose="020A0603040505020204" pitchFamily="18" charset="0"/>
              <a:cs typeface="Arial" panose="020B0604020202020204" pitchFamily="34" charset="0"/>
            </a:endParaRPr>
          </a:p>
        </p:txBody>
      </p:sp>
      <p:sp>
        <p:nvSpPr>
          <p:cNvPr id="3" name="Text 1"/>
          <p:cNvSpPr/>
          <p:nvPr/>
        </p:nvSpPr>
        <p:spPr>
          <a:xfrm>
            <a:off x="750912" y="729853"/>
            <a:ext cx="7642101" cy="276076"/>
          </a:xfrm>
          <a:prstGeom prst="rect">
            <a:avLst/>
          </a:prstGeom>
          <a:noFill/>
          <a:ln/>
        </p:spPr>
        <p:txBody>
          <a:bodyPr wrap="square" lIns="0" tIns="0" rIns="0" bIns="0" rtlCol="0" anchor="t">
            <a:noAutofit/>
          </a:bodyPr>
          <a:lstStyle/>
          <a:p>
            <a:pPr marL="0" indent="0" algn="l">
              <a:lnSpc>
                <a:spcPct val="119000"/>
              </a:lnSpc>
              <a:buNone/>
            </a:pPr>
            <a:r>
              <a:rPr lang="en-US" sz="800" dirty="0">
                <a:solidFill>
                  <a:srgbClr val="55575A"/>
                </a:solidFill>
                <a:latin typeface="Arial" panose="020B0604020202020204" pitchFamily="34" charset="0"/>
                <a:ea typeface="Manrope" pitchFamily="34" charset="-122"/>
                <a:cs typeface="Arial" panose="020B0604020202020204" pitchFamily="34" charset="0"/>
              </a:rPr>
              <a:t>DocAI is far more than a vector database. While traditional retrieval systems simply return similar text chunks, DocAI actively manages the complete knowledge lifecycle — ensuring the knowledge base remains clean, trusted, and genuinely useful over time.</a:t>
            </a:r>
            <a:endParaRPr lang="en-US" sz="800" dirty="0">
              <a:latin typeface="Arial" panose="020B0604020202020204" pitchFamily="34" charset="0"/>
              <a:cs typeface="Arial" panose="020B0604020202020204" pitchFamily="34" charset="0"/>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50912" y="1091059"/>
            <a:ext cx="242218" cy="242218"/>
          </a:xfrm>
          <a:prstGeom prst="rect">
            <a:avLst/>
          </a:prstGeom>
        </p:spPr>
      </p:pic>
      <p:sp>
        <p:nvSpPr>
          <p:cNvPr id="5" name="Text 2"/>
          <p:cNvSpPr/>
          <p:nvPr/>
        </p:nvSpPr>
        <p:spPr>
          <a:xfrm>
            <a:off x="750912" y="1427857"/>
            <a:ext cx="1413718" cy="151433"/>
          </a:xfrm>
          <a:prstGeom prst="rect">
            <a:avLst/>
          </a:prstGeom>
          <a:noFill/>
          <a:ln/>
        </p:spPr>
        <p:txBody>
          <a:bodyPr wrap="none" lIns="0" tIns="0" rIns="0" bIns="0" rtlCol="0" anchor="t"/>
          <a:lstStyle/>
          <a:p>
            <a:pPr marL="0" indent="0" algn="l">
              <a:lnSpc>
                <a:spcPct val="104000"/>
              </a:lnSpc>
              <a:buNone/>
            </a:pPr>
            <a:r>
              <a:rPr lang="en-US" sz="1000" dirty="0">
                <a:solidFill>
                  <a:srgbClr val="55575A"/>
                </a:solidFill>
                <a:latin typeface="Arial" panose="020B0604020202020204" pitchFamily="34" charset="0"/>
                <a:ea typeface="Inter" pitchFamily="34" charset="-122"/>
                <a:cs typeface="Arial" panose="020B0604020202020204" pitchFamily="34" charset="0"/>
              </a:rPr>
              <a:t>Source-of-Truth Ranking</a:t>
            </a:r>
            <a:endParaRPr lang="en-US" sz="1000" dirty="0">
              <a:latin typeface="Arial" panose="020B0604020202020204" pitchFamily="34" charset="0"/>
              <a:cs typeface="Arial" panose="020B0604020202020204" pitchFamily="34" charset="0"/>
            </a:endParaRPr>
          </a:p>
        </p:txBody>
      </p:sp>
      <p:sp>
        <p:nvSpPr>
          <p:cNvPr id="6" name="Text 3"/>
          <p:cNvSpPr/>
          <p:nvPr/>
        </p:nvSpPr>
        <p:spPr>
          <a:xfrm>
            <a:off x="750912" y="1624682"/>
            <a:ext cx="3773760" cy="414114"/>
          </a:xfrm>
          <a:prstGeom prst="rect">
            <a:avLst/>
          </a:prstGeom>
          <a:noFill/>
          <a:ln/>
        </p:spPr>
        <p:txBody>
          <a:bodyPr wrap="square" lIns="0" tIns="0" rIns="0" bIns="0" rtlCol="0" anchor="t">
            <a:noAutofit/>
          </a:bodyPr>
          <a:lstStyle/>
          <a:p>
            <a:pPr marL="0" indent="0" algn="l">
              <a:lnSpc>
                <a:spcPct val="119000"/>
              </a:lnSpc>
              <a:buNone/>
            </a:pPr>
            <a:r>
              <a:rPr lang="en-US" sz="800" dirty="0">
                <a:solidFill>
                  <a:srgbClr val="55575A"/>
                </a:solidFill>
                <a:latin typeface="Arial" panose="020B0604020202020204" pitchFamily="34" charset="0"/>
                <a:ea typeface="Manrope" pitchFamily="34" charset="-122"/>
                <a:cs typeface="Arial" panose="020B0604020202020204" pitchFamily="34" charset="0"/>
              </a:rPr>
              <a:t>DocAI ranks documents by authority and recency, ensuring that the most reliable and up-to-date sources are prioritized in answers. This eliminates ambiguity when multiple documents cover the same topic.</a:t>
            </a:r>
            <a:endParaRPr lang="en-US" sz="800" dirty="0">
              <a:latin typeface="Arial" panose="020B0604020202020204" pitchFamily="34" charset="0"/>
              <a:cs typeface="Arial" panose="020B0604020202020204" pitchFamily="34" charset="0"/>
            </a:endParaRPr>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19253" y="1091059"/>
            <a:ext cx="242218" cy="242218"/>
          </a:xfrm>
          <a:prstGeom prst="rect">
            <a:avLst/>
          </a:prstGeom>
        </p:spPr>
      </p:pic>
      <p:sp>
        <p:nvSpPr>
          <p:cNvPr id="8" name="Text 4"/>
          <p:cNvSpPr/>
          <p:nvPr/>
        </p:nvSpPr>
        <p:spPr>
          <a:xfrm>
            <a:off x="4619253" y="1427857"/>
            <a:ext cx="1211387" cy="151433"/>
          </a:xfrm>
          <a:prstGeom prst="rect">
            <a:avLst/>
          </a:prstGeom>
          <a:noFill/>
          <a:ln/>
        </p:spPr>
        <p:txBody>
          <a:bodyPr wrap="none" lIns="0" tIns="0" rIns="0" bIns="0" rtlCol="0" anchor="t"/>
          <a:lstStyle/>
          <a:p>
            <a:pPr marL="0" indent="0" algn="l">
              <a:lnSpc>
                <a:spcPct val="104000"/>
              </a:lnSpc>
              <a:buNone/>
            </a:pPr>
            <a:r>
              <a:rPr lang="en-US" sz="1000" dirty="0">
                <a:solidFill>
                  <a:srgbClr val="55575A"/>
                </a:solidFill>
                <a:latin typeface="Arial" panose="020B0604020202020204" pitchFamily="34" charset="0"/>
                <a:ea typeface="Inter" pitchFamily="34" charset="-122"/>
                <a:cs typeface="Arial" panose="020B0604020202020204" pitchFamily="34" charset="0"/>
              </a:rPr>
              <a:t>Duplicate Detection</a:t>
            </a:r>
            <a:endParaRPr lang="en-US" sz="1000" dirty="0">
              <a:latin typeface="Arial" panose="020B0604020202020204" pitchFamily="34" charset="0"/>
              <a:cs typeface="Arial" panose="020B0604020202020204" pitchFamily="34" charset="0"/>
            </a:endParaRPr>
          </a:p>
        </p:txBody>
      </p:sp>
      <p:sp>
        <p:nvSpPr>
          <p:cNvPr id="9" name="Text 5"/>
          <p:cNvSpPr/>
          <p:nvPr/>
        </p:nvSpPr>
        <p:spPr>
          <a:xfrm>
            <a:off x="4619253" y="1624682"/>
            <a:ext cx="3773760" cy="414114"/>
          </a:xfrm>
          <a:prstGeom prst="rect">
            <a:avLst/>
          </a:prstGeom>
          <a:noFill/>
          <a:ln/>
        </p:spPr>
        <p:txBody>
          <a:bodyPr wrap="square" lIns="0" tIns="0" rIns="0" bIns="0" rtlCol="0" anchor="t">
            <a:noAutofit/>
          </a:bodyPr>
          <a:lstStyle/>
          <a:p>
            <a:pPr marL="0" indent="0" algn="l">
              <a:lnSpc>
                <a:spcPct val="119000"/>
              </a:lnSpc>
              <a:buNone/>
            </a:pPr>
            <a:r>
              <a:rPr lang="en-US" sz="800" dirty="0">
                <a:solidFill>
                  <a:srgbClr val="55575A"/>
                </a:solidFill>
                <a:latin typeface="Arial" panose="020B0604020202020204" pitchFamily="34" charset="0"/>
                <a:ea typeface="Manrope" pitchFamily="34" charset="-122"/>
                <a:cs typeface="Arial" panose="020B0604020202020204" pitchFamily="34" charset="0"/>
              </a:rPr>
              <a:t>The platform automatically identifies duplicate or near-duplicate documents, alerting admins to consolidate redundant content and reduce noise in the knowledge base.</a:t>
            </a:r>
            <a:endParaRPr lang="en-US" sz="800" dirty="0">
              <a:latin typeface="Arial" panose="020B0604020202020204" pitchFamily="34" charset="0"/>
              <a:cs typeface="Arial" panose="020B0604020202020204" pitchFamily="34" charset="0"/>
            </a:endParaRPr>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50912" y="2190155"/>
            <a:ext cx="242218" cy="242218"/>
          </a:xfrm>
          <a:prstGeom prst="rect">
            <a:avLst/>
          </a:prstGeom>
        </p:spPr>
      </p:pic>
      <p:sp>
        <p:nvSpPr>
          <p:cNvPr id="11" name="Text 6"/>
          <p:cNvSpPr/>
          <p:nvPr/>
        </p:nvSpPr>
        <p:spPr>
          <a:xfrm>
            <a:off x="750912" y="2526953"/>
            <a:ext cx="1211387" cy="151433"/>
          </a:xfrm>
          <a:prstGeom prst="rect">
            <a:avLst/>
          </a:prstGeom>
          <a:noFill/>
          <a:ln/>
        </p:spPr>
        <p:txBody>
          <a:bodyPr wrap="none" lIns="0" tIns="0" rIns="0" bIns="0" rtlCol="0" anchor="t"/>
          <a:lstStyle/>
          <a:p>
            <a:pPr marL="0" indent="0" algn="l">
              <a:lnSpc>
                <a:spcPct val="104000"/>
              </a:lnSpc>
              <a:buNone/>
            </a:pPr>
            <a:r>
              <a:rPr lang="en-US" sz="1000" dirty="0">
                <a:solidFill>
                  <a:srgbClr val="55575A"/>
                </a:solidFill>
                <a:latin typeface="Arial" panose="020B0604020202020204" pitchFamily="34" charset="0"/>
                <a:ea typeface="Inter" pitchFamily="34" charset="-122"/>
                <a:cs typeface="Arial" panose="020B0604020202020204" pitchFamily="34" charset="0"/>
              </a:rPr>
              <a:t>Conflict Detection</a:t>
            </a:r>
            <a:endParaRPr lang="en-US" sz="1000" dirty="0">
              <a:latin typeface="Arial" panose="020B0604020202020204" pitchFamily="34" charset="0"/>
              <a:cs typeface="Arial" panose="020B0604020202020204" pitchFamily="34" charset="0"/>
            </a:endParaRPr>
          </a:p>
        </p:txBody>
      </p:sp>
      <p:sp>
        <p:nvSpPr>
          <p:cNvPr id="12" name="Text 7"/>
          <p:cNvSpPr/>
          <p:nvPr/>
        </p:nvSpPr>
        <p:spPr>
          <a:xfrm>
            <a:off x="750912" y="2723778"/>
            <a:ext cx="3773760" cy="414114"/>
          </a:xfrm>
          <a:prstGeom prst="rect">
            <a:avLst/>
          </a:prstGeom>
          <a:noFill/>
          <a:ln/>
        </p:spPr>
        <p:txBody>
          <a:bodyPr wrap="square" lIns="0" tIns="0" rIns="0" bIns="0" rtlCol="0" anchor="t">
            <a:noAutofit/>
          </a:bodyPr>
          <a:lstStyle/>
          <a:p>
            <a:pPr marL="0" indent="0" algn="l">
              <a:lnSpc>
                <a:spcPct val="119000"/>
              </a:lnSpc>
              <a:buNone/>
            </a:pPr>
            <a:r>
              <a:rPr lang="en-US" sz="800" dirty="0">
                <a:solidFill>
                  <a:srgbClr val="55575A"/>
                </a:solidFill>
                <a:latin typeface="Arial" panose="020B0604020202020204" pitchFamily="34" charset="0"/>
                <a:ea typeface="Manrope" pitchFamily="34" charset="-122"/>
                <a:cs typeface="Arial" panose="020B0604020202020204" pitchFamily="34" charset="0"/>
              </a:rPr>
              <a:t>When two documents contain contradictory information on the same topic, DocAI flags the conflict — enabling admins to resolve inconsistencies before they cause operational confusion.</a:t>
            </a:r>
            <a:endParaRPr lang="en-US" sz="800" dirty="0">
              <a:latin typeface="Arial" panose="020B0604020202020204" pitchFamily="34" charset="0"/>
              <a:cs typeface="Arial" panose="020B0604020202020204" pitchFamily="34" charset="0"/>
            </a:endParaRPr>
          </a:p>
        </p:txBody>
      </p:sp>
      <p:pic>
        <p:nvPicPr>
          <p:cNvPr id="1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19253" y="2190155"/>
            <a:ext cx="242218" cy="242218"/>
          </a:xfrm>
          <a:prstGeom prst="rect">
            <a:avLst/>
          </a:prstGeom>
        </p:spPr>
      </p:pic>
      <p:sp>
        <p:nvSpPr>
          <p:cNvPr id="14" name="Text 8"/>
          <p:cNvSpPr/>
          <p:nvPr/>
        </p:nvSpPr>
        <p:spPr>
          <a:xfrm>
            <a:off x="4619253" y="2526953"/>
            <a:ext cx="1491035" cy="151433"/>
          </a:xfrm>
          <a:prstGeom prst="rect">
            <a:avLst/>
          </a:prstGeom>
          <a:noFill/>
          <a:ln/>
        </p:spPr>
        <p:txBody>
          <a:bodyPr wrap="none" lIns="0" tIns="0" rIns="0" bIns="0" rtlCol="0" anchor="t"/>
          <a:lstStyle/>
          <a:p>
            <a:pPr marL="0" indent="0" algn="l">
              <a:lnSpc>
                <a:spcPct val="104000"/>
              </a:lnSpc>
              <a:buNone/>
            </a:pPr>
            <a:r>
              <a:rPr lang="en-US" sz="1000" dirty="0">
                <a:solidFill>
                  <a:srgbClr val="55575A"/>
                </a:solidFill>
                <a:latin typeface="Arial" panose="020B0604020202020204" pitchFamily="34" charset="0"/>
                <a:ea typeface="Inter" pitchFamily="34" charset="-122"/>
                <a:cs typeface="Arial" panose="020B0604020202020204" pitchFamily="34" charset="0"/>
              </a:rPr>
              <a:t>Knowledge Gap Detection</a:t>
            </a:r>
            <a:endParaRPr lang="en-US" sz="1000" dirty="0">
              <a:latin typeface="Arial" panose="020B0604020202020204" pitchFamily="34" charset="0"/>
              <a:cs typeface="Arial" panose="020B0604020202020204" pitchFamily="34" charset="0"/>
            </a:endParaRPr>
          </a:p>
        </p:txBody>
      </p:sp>
      <p:sp>
        <p:nvSpPr>
          <p:cNvPr id="15" name="Text 9"/>
          <p:cNvSpPr/>
          <p:nvPr/>
        </p:nvSpPr>
        <p:spPr>
          <a:xfrm>
            <a:off x="4619253" y="2723778"/>
            <a:ext cx="3773760" cy="414114"/>
          </a:xfrm>
          <a:prstGeom prst="rect">
            <a:avLst/>
          </a:prstGeom>
          <a:noFill/>
          <a:ln/>
        </p:spPr>
        <p:txBody>
          <a:bodyPr wrap="square" lIns="0" tIns="0" rIns="0" bIns="0" rtlCol="0" anchor="t">
            <a:noAutofit/>
          </a:bodyPr>
          <a:lstStyle/>
          <a:p>
            <a:pPr marL="0" indent="0" algn="l">
              <a:lnSpc>
                <a:spcPct val="119000"/>
              </a:lnSpc>
              <a:buNone/>
            </a:pPr>
            <a:r>
              <a:rPr lang="en-US" sz="800" dirty="0">
                <a:solidFill>
                  <a:srgbClr val="55575A"/>
                </a:solidFill>
                <a:latin typeface="Arial" panose="020B0604020202020204" pitchFamily="34" charset="0"/>
                <a:ea typeface="Manrope" pitchFamily="34" charset="-122"/>
                <a:cs typeface="Arial" panose="020B0604020202020204" pitchFamily="34" charset="0"/>
              </a:rPr>
              <a:t>By analyzing search queries that return low-confidence or no results, DocAI identifies areas where the knowledge base is incomplete — guiding admins to create or upload missing content.</a:t>
            </a:r>
            <a:endParaRPr lang="en-US" sz="800" dirty="0">
              <a:latin typeface="Arial" panose="020B0604020202020204" pitchFamily="34" charset="0"/>
              <a:cs typeface="Arial" panose="020B0604020202020204" pitchFamily="34" charset="0"/>
            </a:endParaRPr>
          </a:p>
        </p:txBody>
      </p:sp>
      <p:pic>
        <p:nvPicPr>
          <p:cNvPr id="1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50912" y="3289250"/>
            <a:ext cx="242218" cy="242218"/>
          </a:xfrm>
          <a:prstGeom prst="rect">
            <a:avLst/>
          </a:prstGeom>
        </p:spPr>
      </p:pic>
      <p:sp>
        <p:nvSpPr>
          <p:cNvPr id="17" name="Text 10"/>
          <p:cNvSpPr/>
          <p:nvPr/>
        </p:nvSpPr>
        <p:spPr>
          <a:xfrm>
            <a:off x="750912" y="3626048"/>
            <a:ext cx="1810643" cy="151433"/>
          </a:xfrm>
          <a:prstGeom prst="rect">
            <a:avLst/>
          </a:prstGeom>
          <a:noFill/>
          <a:ln/>
        </p:spPr>
        <p:txBody>
          <a:bodyPr wrap="none" lIns="0" tIns="0" rIns="0" bIns="0" rtlCol="0" anchor="t"/>
          <a:lstStyle/>
          <a:p>
            <a:pPr marL="0" indent="0" algn="l">
              <a:lnSpc>
                <a:spcPct val="104000"/>
              </a:lnSpc>
              <a:buNone/>
            </a:pPr>
            <a:r>
              <a:rPr lang="en-US" sz="1000" dirty="0">
                <a:solidFill>
                  <a:srgbClr val="55575A"/>
                </a:solidFill>
                <a:latin typeface="Arial" panose="020B0604020202020204" pitchFamily="34" charset="0"/>
                <a:ea typeface="Inter" pitchFamily="34" charset="-122"/>
                <a:cs typeface="Arial" panose="020B0604020202020204" pitchFamily="34" charset="0"/>
              </a:rPr>
              <a:t>Low-Confidence Review Queue</a:t>
            </a:r>
            <a:endParaRPr lang="en-US" sz="1000" dirty="0">
              <a:latin typeface="Arial" panose="020B0604020202020204" pitchFamily="34" charset="0"/>
              <a:cs typeface="Arial" panose="020B0604020202020204" pitchFamily="34" charset="0"/>
            </a:endParaRPr>
          </a:p>
        </p:txBody>
      </p:sp>
      <p:sp>
        <p:nvSpPr>
          <p:cNvPr id="18" name="Text 11"/>
          <p:cNvSpPr/>
          <p:nvPr/>
        </p:nvSpPr>
        <p:spPr>
          <a:xfrm>
            <a:off x="750912" y="3822874"/>
            <a:ext cx="3773760" cy="276076"/>
          </a:xfrm>
          <a:prstGeom prst="rect">
            <a:avLst/>
          </a:prstGeom>
          <a:noFill/>
          <a:ln/>
        </p:spPr>
        <p:txBody>
          <a:bodyPr wrap="square" lIns="0" tIns="0" rIns="0" bIns="0" rtlCol="0" anchor="t">
            <a:noAutofit/>
          </a:bodyPr>
          <a:lstStyle/>
          <a:p>
            <a:pPr marL="0" indent="0" algn="l">
              <a:lnSpc>
                <a:spcPct val="119000"/>
              </a:lnSpc>
              <a:buNone/>
            </a:pPr>
            <a:r>
              <a:rPr lang="en-US" sz="800" dirty="0">
                <a:solidFill>
                  <a:srgbClr val="55575A"/>
                </a:solidFill>
                <a:latin typeface="Arial" panose="020B0604020202020204" pitchFamily="34" charset="0"/>
                <a:ea typeface="Manrope" pitchFamily="34" charset="-122"/>
                <a:cs typeface="Arial" panose="020B0604020202020204" pitchFamily="34" charset="0"/>
              </a:rPr>
              <a:t>Answers generated with low confidence are automatically queued for admin review, creating a continuous feedback loop that improves answer quality over time.</a:t>
            </a:r>
            <a:endParaRPr lang="en-US" sz="800" dirty="0">
              <a:latin typeface="Arial" panose="020B0604020202020204" pitchFamily="34" charset="0"/>
              <a:cs typeface="Arial" panose="020B0604020202020204" pitchFamily="34" charset="0"/>
            </a:endParaRPr>
          </a:p>
        </p:txBody>
      </p:sp>
      <p:pic>
        <p:nvPicPr>
          <p:cNvPr id="19"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619253" y="3289250"/>
            <a:ext cx="242218" cy="242218"/>
          </a:xfrm>
          <a:prstGeom prst="rect">
            <a:avLst/>
          </a:prstGeom>
        </p:spPr>
      </p:pic>
      <p:sp>
        <p:nvSpPr>
          <p:cNvPr id="20" name="Text 12"/>
          <p:cNvSpPr/>
          <p:nvPr/>
        </p:nvSpPr>
        <p:spPr>
          <a:xfrm>
            <a:off x="4619253" y="3626048"/>
            <a:ext cx="1644402" cy="151433"/>
          </a:xfrm>
          <a:prstGeom prst="rect">
            <a:avLst/>
          </a:prstGeom>
          <a:noFill/>
          <a:ln/>
        </p:spPr>
        <p:txBody>
          <a:bodyPr wrap="none" lIns="0" tIns="0" rIns="0" bIns="0" rtlCol="0" anchor="t"/>
          <a:lstStyle/>
          <a:p>
            <a:pPr marL="0" indent="0" algn="l">
              <a:lnSpc>
                <a:spcPct val="104000"/>
              </a:lnSpc>
              <a:buNone/>
            </a:pPr>
            <a:r>
              <a:rPr lang="en-US" sz="1000" dirty="0">
                <a:solidFill>
                  <a:srgbClr val="55575A"/>
                </a:solidFill>
                <a:latin typeface="Arial" panose="020B0604020202020204" pitchFamily="34" charset="0"/>
                <a:ea typeface="Inter" pitchFamily="34" charset="-122"/>
                <a:cs typeface="Arial" panose="020B0604020202020204" pitchFamily="34" charset="0"/>
              </a:rPr>
              <a:t>Document Health Monitoring</a:t>
            </a:r>
            <a:endParaRPr lang="en-US" sz="1000" dirty="0">
              <a:latin typeface="Arial" panose="020B0604020202020204" pitchFamily="34" charset="0"/>
              <a:cs typeface="Arial" panose="020B0604020202020204" pitchFamily="34" charset="0"/>
            </a:endParaRPr>
          </a:p>
        </p:txBody>
      </p:sp>
      <p:sp>
        <p:nvSpPr>
          <p:cNvPr id="21" name="Text 13"/>
          <p:cNvSpPr/>
          <p:nvPr/>
        </p:nvSpPr>
        <p:spPr>
          <a:xfrm>
            <a:off x="4619253" y="3822874"/>
            <a:ext cx="3773760" cy="414114"/>
          </a:xfrm>
          <a:prstGeom prst="rect">
            <a:avLst/>
          </a:prstGeom>
          <a:noFill/>
          <a:ln/>
        </p:spPr>
        <p:txBody>
          <a:bodyPr wrap="square" lIns="0" tIns="0" rIns="0" bIns="0" rtlCol="0" anchor="t">
            <a:noAutofit/>
          </a:bodyPr>
          <a:lstStyle/>
          <a:p>
            <a:pPr marL="0" indent="0" algn="l">
              <a:lnSpc>
                <a:spcPct val="119000"/>
              </a:lnSpc>
              <a:buNone/>
            </a:pPr>
            <a:r>
              <a:rPr lang="en-US" sz="800" dirty="0">
                <a:solidFill>
                  <a:srgbClr val="55575A"/>
                </a:solidFill>
                <a:latin typeface="Arial" panose="020B0604020202020204" pitchFamily="34" charset="0"/>
                <a:ea typeface="Manrope" pitchFamily="34" charset="-122"/>
                <a:cs typeface="Arial" panose="020B0604020202020204" pitchFamily="34" charset="0"/>
              </a:rPr>
              <a:t>Admins receive ongoing visibility into the overall health of the knowledge base — including document freshness, coverage, and usage patterns — enabling proactive knowledge management.</a:t>
            </a:r>
            <a:endParaRPr lang="en-US" sz="800" dirty="0">
              <a:latin typeface="Arial" panose="020B0604020202020204" pitchFamily="34" charset="0"/>
              <a:cs typeface="Arial" panose="020B0604020202020204" pitchFamily="34" charset="0"/>
            </a:endParaRPr>
          </a:p>
        </p:txBody>
      </p:sp>
      <p:sp>
        <p:nvSpPr>
          <p:cNvPr id="22" name="Shape 14"/>
          <p:cNvSpPr/>
          <p:nvPr/>
        </p:nvSpPr>
        <p:spPr>
          <a:xfrm>
            <a:off x="750912" y="4322118"/>
            <a:ext cx="7642101" cy="460623"/>
          </a:xfrm>
          <a:prstGeom prst="roundRect">
            <a:avLst>
              <a:gd name="adj" fmla="val 18935"/>
            </a:avLst>
          </a:prstGeom>
          <a:solidFill>
            <a:srgbClr val="B6D6FC"/>
          </a:solidFill>
          <a:ln/>
        </p:spPr>
        <p:txBody>
          <a:bodyPr/>
          <a:lstStyle/>
          <a:p>
            <a:endParaRPr sz="2000">
              <a:latin typeface="Arial" panose="020B0604020202020204" pitchFamily="34" charset="0"/>
              <a:cs typeface="Arial" panose="020B0604020202020204" pitchFamily="34" charset="0"/>
            </a:endParaRPr>
          </a:p>
        </p:txBody>
      </p:sp>
      <p:pic>
        <p:nvPicPr>
          <p:cNvPr id="23" name="Image 6" descr="preencoded.png"/>
          <p:cNvPicPr>
            <a:picLocks noChangeAspect="1"/>
          </p:cNvPicPr>
          <p:nvPr/>
        </p:nvPicPr>
        <p:blipFill>
          <a:blip r:embed="rId9"/>
          <a:stretch>
            <a:fillRect/>
          </a:stretch>
        </p:blipFill>
        <p:spPr>
          <a:xfrm>
            <a:off x="847799" y="4448845"/>
            <a:ext cx="121072" cy="96887"/>
          </a:xfrm>
          <a:prstGeom prst="rect">
            <a:avLst/>
          </a:prstGeom>
        </p:spPr>
      </p:pic>
      <p:sp>
        <p:nvSpPr>
          <p:cNvPr id="24" name="Text 15"/>
          <p:cNvSpPr/>
          <p:nvPr/>
        </p:nvSpPr>
        <p:spPr>
          <a:xfrm>
            <a:off x="1065758" y="4414391"/>
            <a:ext cx="7230368" cy="276076"/>
          </a:xfrm>
          <a:prstGeom prst="rect">
            <a:avLst/>
          </a:prstGeom>
          <a:noFill/>
          <a:ln/>
        </p:spPr>
        <p:txBody>
          <a:bodyPr wrap="square" lIns="0" tIns="0" rIns="0" bIns="0" rtlCol="0" anchor="t">
            <a:normAutofit lnSpcReduction="10000"/>
          </a:bodyPr>
          <a:lstStyle/>
          <a:p>
            <a:pPr marL="0" indent="0" algn="l">
              <a:lnSpc>
                <a:spcPct val="119000"/>
              </a:lnSpc>
              <a:buNone/>
            </a:pPr>
            <a:r>
              <a:rPr lang="en-US" sz="800" b="1" dirty="0">
                <a:solidFill>
                  <a:srgbClr val="000000"/>
                </a:solidFill>
                <a:latin typeface="Arial" panose="020B0604020202020204" pitchFamily="34" charset="0"/>
                <a:ea typeface="Manrope" pitchFamily="34" charset="-122"/>
                <a:cs typeface="Arial" panose="020B0604020202020204" pitchFamily="34" charset="0"/>
              </a:rPr>
              <a:t>Key message:</a:t>
            </a:r>
            <a:r>
              <a:rPr lang="en-US" sz="800" dirty="0">
                <a:solidFill>
                  <a:srgbClr val="000000"/>
                </a:solidFill>
                <a:latin typeface="Arial" panose="020B0604020202020204" pitchFamily="34" charset="0"/>
                <a:ea typeface="Manrope" pitchFamily="34" charset="-122"/>
                <a:cs typeface="Arial" panose="020B0604020202020204" pitchFamily="34" charset="0"/>
              </a:rPr>
              <a:t> A vector database retrieves similar chunks — but DocAI manages the complete knowledge lifecycle, helping companies keep their knowledge base clean, trusted, and useful.</a:t>
            </a:r>
            <a:endParaRPr lang="en-US" sz="800" dirty="0">
              <a:latin typeface="Arial" panose="020B0604020202020204" pitchFamily="34" charset="0"/>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1897261" y="207764"/>
            <a:ext cx="3176215" cy="211931"/>
          </a:xfrm>
          <a:prstGeom prst="rect">
            <a:avLst/>
          </a:prstGeom>
          <a:noFill/>
          <a:ln/>
        </p:spPr>
        <p:txBody>
          <a:bodyPr wrap="none" lIns="0" tIns="0" rIns="0" bIns="0" rtlCol="0" anchor="t"/>
          <a:lstStyle/>
          <a:p>
            <a:pPr marL="0" indent="0" algn="l">
              <a:lnSpc>
                <a:spcPct val="104000"/>
              </a:lnSpc>
              <a:buNone/>
            </a:pPr>
            <a:r>
              <a:rPr lang="en-US" sz="1600" dirty="0">
                <a:solidFill>
                  <a:srgbClr val="0C0D0F"/>
                </a:solidFill>
                <a:latin typeface="PT Serif" panose="020A0603040505020204" pitchFamily="18" charset="0"/>
                <a:ea typeface="Inter" pitchFamily="34" charset="-122"/>
                <a:cs typeface="Arial" panose="020B0604020202020204" pitchFamily="34" charset="0"/>
              </a:rPr>
              <a:t>System Architecture &amp; Tech Stack</a:t>
            </a:r>
            <a:endParaRPr lang="en-US" sz="1600" dirty="0">
              <a:latin typeface="PT Serif" panose="020A0603040505020204" pitchFamily="18" charset="0"/>
              <a:cs typeface="Arial" panose="020B0604020202020204" pitchFamily="34" charset="0"/>
            </a:endParaRPr>
          </a:p>
        </p:txBody>
      </p:sp>
      <p:sp>
        <p:nvSpPr>
          <p:cNvPr id="3" name="Text 1"/>
          <p:cNvSpPr/>
          <p:nvPr/>
        </p:nvSpPr>
        <p:spPr>
          <a:xfrm>
            <a:off x="1897261" y="493885"/>
            <a:ext cx="5968924" cy="206161"/>
          </a:xfrm>
          <a:prstGeom prst="rect">
            <a:avLst/>
          </a:prstGeom>
          <a:noFill/>
          <a:ln/>
        </p:spPr>
        <p:txBody>
          <a:bodyPr wrap="square" lIns="0" tIns="0" rIns="0" bIns="0" rtlCol="0" anchor="t">
            <a:noAutofit/>
          </a:bodyPr>
          <a:lstStyle/>
          <a:p>
            <a:pPr marL="0" indent="0" algn="l">
              <a:lnSpc>
                <a:spcPct val="103000"/>
              </a:lnSpc>
              <a:buNone/>
            </a:pPr>
            <a:r>
              <a:rPr lang="en-US" sz="800" dirty="0">
                <a:solidFill>
                  <a:srgbClr val="55575A"/>
                </a:solidFill>
                <a:latin typeface="Arial" panose="020B0604020202020204" pitchFamily="34" charset="0"/>
                <a:ea typeface="Manrope" pitchFamily="34" charset="-122"/>
                <a:cs typeface="Arial" panose="020B0604020202020204" pitchFamily="34" charset="0"/>
              </a:rPr>
              <a:t>DocAI is built on a modern, scalable technology stack designed for enterprise reliability and performance. The architecture cleanly separates the frontend, backend, and AI processing layers — enabling independent scaling, maintainability, and rapid iteration.</a:t>
            </a:r>
            <a:endParaRPr lang="en-US" sz="800" dirty="0">
              <a:latin typeface="Arial" panose="020B0604020202020204" pitchFamily="34" charset="0"/>
              <a:cs typeface="Arial" panose="020B0604020202020204" pitchFamily="34" charset="0"/>
            </a:endParaRPr>
          </a:p>
        </p:txBody>
      </p:sp>
      <p:pic>
        <p:nvPicPr>
          <p:cNvPr id="4" name="Image 0" descr="preencoded.png"/>
          <p:cNvPicPr>
            <a:picLocks noChangeAspect="1"/>
          </p:cNvPicPr>
          <p:nvPr/>
        </p:nvPicPr>
        <p:blipFill>
          <a:blip r:embed="rId3"/>
          <a:stretch>
            <a:fillRect/>
          </a:stretch>
        </p:blipFill>
        <p:spPr>
          <a:xfrm>
            <a:off x="2254815" y="609752"/>
            <a:ext cx="4339416" cy="1985901"/>
          </a:xfrm>
          <a:prstGeom prst="rect">
            <a:avLst/>
          </a:prstGeom>
        </p:spPr>
      </p:pic>
      <p:sp>
        <p:nvSpPr>
          <p:cNvPr id="5" name="Text 2"/>
          <p:cNvSpPr/>
          <p:nvPr/>
        </p:nvSpPr>
        <p:spPr>
          <a:xfrm>
            <a:off x="5686812" y="911638"/>
            <a:ext cx="1183352" cy="147919"/>
          </a:xfrm>
          <a:prstGeom prst="rect">
            <a:avLst/>
          </a:prstGeom>
          <a:noFill/>
          <a:ln/>
        </p:spPr>
        <p:txBody>
          <a:bodyPr wrap="none" lIns="0" tIns="0" rIns="0" bIns="0" rtlCol="0" anchor="t"/>
          <a:lstStyle/>
          <a:p>
            <a:pPr marL="0" indent="0" algn="l">
              <a:lnSpc>
                <a:spcPct val="104000"/>
              </a:lnSpc>
              <a:buNone/>
            </a:pPr>
            <a:r>
              <a:rPr lang="en-US" sz="1050" dirty="0">
                <a:solidFill>
                  <a:srgbClr val="55575A"/>
                </a:solidFill>
                <a:latin typeface="Arial" panose="020B0604020202020204" pitchFamily="34" charset="0"/>
                <a:ea typeface="Inter" pitchFamily="34" charset="-122"/>
                <a:cs typeface="Arial" panose="020B0604020202020204" pitchFamily="34" charset="0"/>
              </a:rPr>
              <a:t>API &amp; Frontend</a:t>
            </a:r>
            <a:endParaRPr lang="en-US" sz="1050" dirty="0">
              <a:latin typeface="Arial" panose="020B0604020202020204" pitchFamily="34" charset="0"/>
              <a:cs typeface="Arial" panose="020B0604020202020204" pitchFamily="34" charset="0"/>
            </a:endParaRPr>
          </a:p>
        </p:txBody>
      </p:sp>
      <p:sp>
        <p:nvSpPr>
          <p:cNvPr id="6" name="Text 3"/>
          <p:cNvSpPr/>
          <p:nvPr/>
        </p:nvSpPr>
        <p:spPr>
          <a:xfrm>
            <a:off x="5686812" y="1101632"/>
            <a:ext cx="1304317" cy="182927"/>
          </a:xfrm>
          <a:prstGeom prst="rect">
            <a:avLst/>
          </a:prstGeom>
          <a:noFill/>
          <a:ln/>
        </p:spPr>
        <p:txBody>
          <a:bodyPr wrap="square" lIns="0" tIns="0" rIns="0" bIns="0" rtlCol="0" anchor="t">
            <a:noAutofit/>
          </a:bodyPr>
          <a:lstStyle/>
          <a:p>
            <a:pPr marL="0" indent="0" algn="l">
              <a:lnSpc>
                <a:spcPct val="81000"/>
              </a:lnSpc>
              <a:buNone/>
            </a:pPr>
            <a:r>
              <a:rPr lang="en-US" sz="900" dirty="0">
                <a:solidFill>
                  <a:srgbClr val="55575A"/>
                </a:solidFill>
                <a:latin typeface="Arial" panose="020B0604020202020204" pitchFamily="34" charset="0"/>
                <a:ea typeface="Manrope" pitchFamily="34" charset="-122"/>
                <a:cs typeface="Arial" panose="020B0604020202020204" pitchFamily="34" charset="0"/>
              </a:rPr>
              <a:t>FastAPI (Uvicorn) and React TS on Vercel</a:t>
            </a:r>
            <a:endParaRPr lang="en-US" sz="900" dirty="0">
              <a:latin typeface="Arial" panose="020B0604020202020204" pitchFamily="34" charset="0"/>
              <a:cs typeface="Arial" panose="020B0604020202020204" pitchFamily="34" charset="0"/>
            </a:endParaRPr>
          </a:p>
        </p:txBody>
      </p:sp>
      <p:sp>
        <p:nvSpPr>
          <p:cNvPr id="7" name="Text 4"/>
          <p:cNvSpPr/>
          <p:nvPr/>
        </p:nvSpPr>
        <p:spPr>
          <a:xfrm>
            <a:off x="2039559" y="1528744"/>
            <a:ext cx="1183352" cy="147919"/>
          </a:xfrm>
          <a:prstGeom prst="rect">
            <a:avLst/>
          </a:prstGeom>
          <a:noFill/>
          <a:ln/>
        </p:spPr>
        <p:txBody>
          <a:bodyPr wrap="none" lIns="0" tIns="0" rIns="0" bIns="0" rtlCol="0" anchor="t"/>
          <a:lstStyle/>
          <a:p>
            <a:pPr marL="0" indent="0" algn="r">
              <a:lnSpc>
                <a:spcPct val="104000"/>
              </a:lnSpc>
              <a:buNone/>
            </a:pPr>
            <a:r>
              <a:rPr lang="en-US" sz="1050" dirty="0">
                <a:solidFill>
                  <a:srgbClr val="55575A"/>
                </a:solidFill>
                <a:latin typeface="Arial" panose="020B0604020202020204" pitchFamily="34" charset="0"/>
                <a:ea typeface="Inter" pitchFamily="34" charset="-122"/>
                <a:cs typeface="Arial" panose="020B0604020202020204" pitchFamily="34" charset="0"/>
              </a:rPr>
              <a:t>Processing Engine</a:t>
            </a:r>
            <a:endParaRPr lang="en-US" sz="1050" dirty="0">
              <a:latin typeface="Arial" panose="020B0604020202020204" pitchFamily="34" charset="0"/>
              <a:cs typeface="Arial" panose="020B0604020202020204" pitchFamily="34" charset="0"/>
            </a:endParaRPr>
          </a:p>
        </p:txBody>
      </p:sp>
      <p:sp>
        <p:nvSpPr>
          <p:cNvPr id="8" name="Text 5"/>
          <p:cNvSpPr/>
          <p:nvPr/>
        </p:nvSpPr>
        <p:spPr>
          <a:xfrm>
            <a:off x="2023781" y="1718738"/>
            <a:ext cx="1199130" cy="182927"/>
          </a:xfrm>
          <a:prstGeom prst="rect">
            <a:avLst/>
          </a:prstGeom>
          <a:noFill/>
          <a:ln/>
        </p:spPr>
        <p:txBody>
          <a:bodyPr wrap="square" lIns="0" tIns="0" rIns="0" bIns="0" rtlCol="0" anchor="t">
            <a:noAutofit/>
          </a:bodyPr>
          <a:lstStyle/>
          <a:p>
            <a:pPr marL="0" indent="0" algn="r">
              <a:lnSpc>
                <a:spcPct val="81000"/>
              </a:lnSpc>
              <a:buNone/>
            </a:pPr>
            <a:r>
              <a:rPr lang="en-US" sz="900" dirty="0">
                <a:solidFill>
                  <a:srgbClr val="55575A"/>
                </a:solidFill>
                <a:latin typeface="Arial" panose="020B0604020202020204" pitchFamily="34" charset="0"/>
                <a:ea typeface="Manrope" pitchFamily="34" charset="-122"/>
                <a:cs typeface="Arial" panose="020B0604020202020204" pitchFamily="34" charset="0"/>
              </a:rPr>
              <a:t>Extract, chunk, index, and semantic search</a:t>
            </a:r>
            <a:endParaRPr lang="en-US" sz="900" dirty="0">
              <a:latin typeface="Arial" panose="020B0604020202020204" pitchFamily="34" charset="0"/>
              <a:cs typeface="Arial" panose="020B0604020202020204" pitchFamily="34" charset="0"/>
            </a:endParaRPr>
          </a:p>
        </p:txBody>
      </p:sp>
      <p:sp>
        <p:nvSpPr>
          <p:cNvPr id="9" name="Text 6"/>
          <p:cNvSpPr/>
          <p:nvPr/>
        </p:nvSpPr>
        <p:spPr>
          <a:xfrm>
            <a:off x="5645781" y="1821147"/>
            <a:ext cx="1183352" cy="147919"/>
          </a:xfrm>
          <a:prstGeom prst="rect">
            <a:avLst/>
          </a:prstGeom>
          <a:noFill/>
          <a:ln/>
        </p:spPr>
        <p:txBody>
          <a:bodyPr wrap="none" lIns="0" tIns="0" rIns="0" bIns="0" rtlCol="0" anchor="t"/>
          <a:lstStyle/>
          <a:p>
            <a:pPr marL="0" indent="0" algn="l">
              <a:lnSpc>
                <a:spcPct val="104000"/>
              </a:lnSpc>
              <a:buNone/>
            </a:pPr>
            <a:r>
              <a:rPr lang="en-US" sz="1050" dirty="0">
                <a:solidFill>
                  <a:srgbClr val="55575A"/>
                </a:solidFill>
                <a:latin typeface="Arial" panose="020B0604020202020204" pitchFamily="34" charset="0"/>
                <a:ea typeface="Inter" pitchFamily="34" charset="-122"/>
                <a:cs typeface="Arial" panose="020B0604020202020204" pitchFamily="34" charset="0"/>
              </a:rPr>
              <a:t>LLM Reasoning</a:t>
            </a:r>
            <a:endParaRPr lang="en-US" sz="1050" dirty="0">
              <a:latin typeface="Arial" panose="020B0604020202020204" pitchFamily="34" charset="0"/>
              <a:cs typeface="Arial" panose="020B0604020202020204" pitchFamily="34" charset="0"/>
            </a:endParaRPr>
          </a:p>
        </p:txBody>
      </p:sp>
      <p:sp>
        <p:nvSpPr>
          <p:cNvPr id="10" name="Text 7"/>
          <p:cNvSpPr/>
          <p:nvPr/>
        </p:nvSpPr>
        <p:spPr>
          <a:xfrm>
            <a:off x="5645781" y="2011141"/>
            <a:ext cx="1304317" cy="182927"/>
          </a:xfrm>
          <a:prstGeom prst="rect">
            <a:avLst/>
          </a:prstGeom>
          <a:noFill/>
          <a:ln/>
        </p:spPr>
        <p:txBody>
          <a:bodyPr wrap="square" lIns="0" tIns="0" rIns="0" bIns="0" rtlCol="0" anchor="t">
            <a:noAutofit/>
          </a:bodyPr>
          <a:lstStyle/>
          <a:p>
            <a:pPr marL="0" indent="0" algn="l">
              <a:lnSpc>
                <a:spcPct val="81000"/>
              </a:lnSpc>
              <a:buNone/>
            </a:pPr>
            <a:r>
              <a:rPr lang="en-US" sz="900" dirty="0">
                <a:solidFill>
                  <a:srgbClr val="55575A"/>
                </a:solidFill>
                <a:latin typeface="Arial" panose="020B0604020202020204" pitchFamily="34" charset="0"/>
                <a:ea typeface="Manrope" pitchFamily="34" charset="-122"/>
                <a:cs typeface="Arial" panose="020B0604020202020204" pitchFamily="34" charset="0"/>
              </a:rPr>
              <a:t>Gemini generates citation-backed answers</a:t>
            </a:r>
            <a:endParaRPr lang="en-US" sz="900" dirty="0">
              <a:latin typeface="Arial" panose="020B0604020202020204" pitchFamily="34" charset="0"/>
              <a:cs typeface="Arial" panose="020B0604020202020204" pitchFamily="34" charset="0"/>
            </a:endParaRPr>
          </a:p>
        </p:txBody>
      </p:sp>
      <p:sp>
        <p:nvSpPr>
          <p:cNvPr id="11" name="Text 8"/>
          <p:cNvSpPr/>
          <p:nvPr/>
        </p:nvSpPr>
        <p:spPr>
          <a:xfrm>
            <a:off x="1863403" y="2677649"/>
            <a:ext cx="5349478" cy="167878"/>
          </a:xfrm>
          <a:prstGeom prst="rect">
            <a:avLst/>
          </a:prstGeom>
          <a:noFill/>
          <a:ln/>
        </p:spPr>
        <p:txBody>
          <a:bodyPr wrap="square" lIns="0" tIns="0" rIns="0" bIns="0" rtlCol="0" anchor="t">
            <a:noAutofit/>
          </a:bodyPr>
          <a:lstStyle/>
          <a:p>
            <a:pPr marL="0" indent="0" algn="l">
              <a:lnSpc>
                <a:spcPct val="103000"/>
              </a:lnSpc>
              <a:buNone/>
            </a:pPr>
            <a:r>
              <a:rPr lang="en-US" sz="800" dirty="0">
                <a:solidFill>
                  <a:srgbClr val="55575A"/>
                </a:solidFill>
                <a:latin typeface="Arial" panose="020B0604020202020204" pitchFamily="34" charset="0"/>
                <a:ea typeface="Manrope" pitchFamily="34" charset="-122"/>
                <a:cs typeface="Arial" panose="020B0604020202020204" pitchFamily="34" charset="0"/>
              </a:rPr>
              <a:t>The architecture ensures a seamless flow from user interaction through document processing, retrieval, and AI reasoning — delivering citation-backed answers with full traceability at every step.</a:t>
            </a:r>
            <a:endParaRPr lang="en-US" sz="800" dirty="0">
              <a:latin typeface="Arial" panose="020B0604020202020204" pitchFamily="34" charset="0"/>
              <a:cs typeface="Arial" panose="020B0604020202020204" pitchFamily="34" charset="0"/>
            </a:endParaRPr>
          </a:p>
        </p:txBody>
      </p:sp>
      <p:sp>
        <p:nvSpPr>
          <p:cNvPr id="12" name="Shape 9"/>
          <p:cNvSpPr/>
          <p:nvPr/>
        </p:nvSpPr>
        <p:spPr>
          <a:xfrm>
            <a:off x="1039477" y="3256264"/>
            <a:ext cx="2689771" cy="1181174"/>
          </a:xfrm>
          <a:prstGeom prst="roundRect">
            <a:avLst>
              <a:gd name="adj" fmla="val 8270"/>
            </a:avLst>
          </a:prstGeom>
          <a:noFill/>
          <a:ln>
            <a:solidFill>
              <a:schemeClr val="accent2">
                <a:lumMod val="75000"/>
              </a:schemeClr>
            </a:solidFill>
          </a:ln>
        </p:spPr>
        <p:txBody>
          <a:bodyPr/>
          <a:lstStyle/>
          <a:p>
            <a:endParaRPr sz="2400">
              <a:latin typeface="Arial" panose="020B0604020202020204" pitchFamily="34" charset="0"/>
              <a:cs typeface="Arial" panose="020B0604020202020204" pitchFamily="34" charset="0"/>
            </a:endParaRPr>
          </a:p>
        </p:txBody>
      </p:sp>
      <p:sp>
        <p:nvSpPr>
          <p:cNvPr id="13" name="Text 10"/>
          <p:cNvSpPr/>
          <p:nvPr/>
        </p:nvSpPr>
        <p:spPr>
          <a:xfrm>
            <a:off x="1107268" y="3293322"/>
            <a:ext cx="1305148" cy="106040"/>
          </a:xfrm>
          <a:prstGeom prst="rect">
            <a:avLst/>
          </a:prstGeom>
          <a:noFill/>
          <a:ln/>
        </p:spPr>
        <p:txBody>
          <a:bodyPr wrap="none" lIns="0" tIns="0" rIns="0" bIns="0" rtlCol="0" anchor="t"/>
          <a:lstStyle/>
          <a:p>
            <a:pPr marL="0" indent="0" algn="l">
              <a:lnSpc>
                <a:spcPct val="104000"/>
              </a:lnSpc>
              <a:buNone/>
            </a:pPr>
            <a:r>
              <a:rPr lang="en-US" sz="900" dirty="0">
                <a:solidFill>
                  <a:srgbClr val="0C0D0F"/>
                </a:solidFill>
                <a:latin typeface="Arial" panose="020B0604020202020204" pitchFamily="34" charset="0"/>
                <a:ea typeface="Inter" pitchFamily="34" charset="-122"/>
                <a:cs typeface="Arial" panose="020B0604020202020204" pitchFamily="34" charset="0"/>
              </a:rPr>
              <a:t>Frontend Stack</a:t>
            </a:r>
            <a:endParaRPr lang="en-US" sz="900" dirty="0">
              <a:latin typeface="Arial" panose="020B0604020202020204" pitchFamily="34" charset="0"/>
              <a:cs typeface="Arial" panose="020B0604020202020204" pitchFamily="34" charset="0"/>
            </a:endParaRPr>
          </a:p>
        </p:txBody>
      </p:sp>
      <p:sp>
        <p:nvSpPr>
          <p:cNvPr id="14" name="Text 11"/>
          <p:cNvSpPr/>
          <p:nvPr/>
        </p:nvSpPr>
        <p:spPr>
          <a:xfrm>
            <a:off x="1107268" y="3436421"/>
            <a:ext cx="2554188" cy="977056"/>
          </a:xfrm>
          <a:prstGeom prst="rect">
            <a:avLst/>
          </a:prstGeom>
          <a:noFill/>
          <a:ln/>
        </p:spPr>
        <p:txBody>
          <a:bodyPr wrap="square" lIns="0" tIns="0" rIns="0" bIns="0" rtlCol="0" anchor="t">
            <a:noAutofit/>
          </a:bodyPr>
          <a:lstStyle/>
          <a:p>
            <a:pPr marL="342900" indent="-342900" algn="l">
              <a:lnSpc>
                <a:spcPct val="103000"/>
              </a:lnSpc>
              <a:buSzPct val="100000"/>
              <a:buChar char="•"/>
            </a:pPr>
            <a:r>
              <a:rPr lang="en-US" sz="700" b="1" dirty="0">
                <a:solidFill>
                  <a:srgbClr val="000000"/>
                </a:solidFill>
                <a:latin typeface="Arial" panose="020B0604020202020204" pitchFamily="34" charset="0"/>
                <a:ea typeface="Manrope" pitchFamily="34" charset="-122"/>
                <a:cs typeface="Arial" panose="020B0604020202020204" pitchFamily="34" charset="0"/>
              </a:rPr>
              <a:t>React</a:t>
            </a:r>
            <a:r>
              <a:rPr lang="en-US" sz="700" dirty="0">
                <a:solidFill>
                  <a:srgbClr val="000000"/>
                </a:solidFill>
                <a:latin typeface="Arial" panose="020B0604020202020204" pitchFamily="34" charset="0"/>
                <a:ea typeface="Manrope" pitchFamily="34" charset="-122"/>
                <a:cs typeface="Arial" panose="020B0604020202020204" pitchFamily="34" charset="0"/>
              </a:rPr>
              <a:t> — Component-based UI framework for a responsive, modern interface</a:t>
            </a:r>
            <a:endParaRPr lang="en-US" sz="700" dirty="0">
              <a:latin typeface="Arial" panose="020B0604020202020204" pitchFamily="34" charset="0"/>
              <a:cs typeface="Arial" panose="020B0604020202020204" pitchFamily="34" charset="0"/>
            </a:endParaRPr>
          </a:p>
          <a:p>
            <a:pPr marL="342900" indent="-342900" algn="l">
              <a:lnSpc>
                <a:spcPct val="103000"/>
              </a:lnSpc>
              <a:buSzPct val="100000"/>
              <a:buChar char="•"/>
            </a:pPr>
            <a:r>
              <a:rPr lang="en-US" sz="700" b="1" dirty="0">
                <a:solidFill>
                  <a:srgbClr val="000000"/>
                </a:solidFill>
                <a:latin typeface="Arial" panose="020B0604020202020204" pitchFamily="34" charset="0"/>
                <a:ea typeface="Manrope" pitchFamily="34" charset="-122"/>
                <a:cs typeface="Arial" panose="020B0604020202020204" pitchFamily="34" charset="0"/>
              </a:rPr>
              <a:t>TypeScript</a:t>
            </a:r>
            <a:r>
              <a:rPr lang="en-US" sz="700" dirty="0">
                <a:solidFill>
                  <a:srgbClr val="000000"/>
                </a:solidFill>
                <a:latin typeface="Arial" panose="020B0604020202020204" pitchFamily="34" charset="0"/>
                <a:ea typeface="Manrope" pitchFamily="34" charset="-122"/>
                <a:cs typeface="Arial" panose="020B0604020202020204" pitchFamily="34" charset="0"/>
              </a:rPr>
              <a:t> — Strongly typed JavaScript for reliability and maintainability</a:t>
            </a:r>
            <a:endParaRPr lang="en-US" sz="700" dirty="0">
              <a:latin typeface="Arial" panose="020B0604020202020204" pitchFamily="34" charset="0"/>
              <a:cs typeface="Arial" panose="020B0604020202020204" pitchFamily="34" charset="0"/>
            </a:endParaRPr>
          </a:p>
          <a:p>
            <a:pPr marL="342900" indent="-342900" algn="l">
              <a:lnSpc>
                <a:spcPct val="103000"/>
              </a:lnSpc>
              <a:buSzPct val="100000"/>
              <a:buChar char="•"/>
            </a:pPr>
            <a:r>
              <a:rPr lang="en-US" sz="700" b="1" dirty="0">
                <a:solidFill>
                  <a:srgbClr val="000000"/>
                </a:solidFill>
                <a:latin typeface="Arial" panose="020B0604020202020204" pitchFamily="34" charset="0"/>
                <a:ea typeface="Manrope" pitchFamily="34" charset="-122"/>
                <a:cs typeface="Arial" panose="020B0604020202020204" pitchFamily="34" charset="0"/>
              </a:rPr>
              <a:t>Vite</a:t>
            </a:r>
            <a:r>
              <a:rPr lang="en-US" sz="700" dirty="0">
                <a:solidFill>
                  <a:srgbClr val="000000"/>
                </a:solidFill>
                <a:latin typeface="Arial" panose="020B0604020202020204" pitchFamily="34" charset="0"/>
                <a:ea typeface="Manrope" pitchFamily="34" charset="-122"/>
                <a:cs typeface="Arial" panose="020B0604020202020204" pitchFamily="34" charset="0"/>
              </a:rPr>
              <a:t> — Fast build tool and development server for rapid iteration</a:t>
            </a:r>
            <a:endParaRPr lang="en-US" sz="700" dirty="0">
              <a:latin typeface="Arial" panose="020B0604020202020204" pitchFamily="34" charset="0"/>
              <a:cs typeface="Arial" panose="020B0604020202020204" pitchFamily="34" charset="0"/>
            </a:endParaRPr>
          </a:p>
          <a:p>
            <a:pPr marL="342900" indent="-342900" algn="l">
              <a:lnSpc>
                <a:spcPct val="103000"/>
              </a:lnSpc>
              <a:buSzPct val="100000"/>
              <a:buChar char="•"/>
            </a:pPr>
            <a:r>
              <a:rPr lang="en-US" sz="700" b="1" dirty="0">
                <a:solidFill>
                  <a:srgbClr val="000000"/>
                </a:solidFill>
                <a:latin typeface="Arial" panose="020B0604020202020204" pitchFamily="34" charset="0"/>
                <a:ea typeface="Manrope" pitchFamily="34" charset="-122"/>
                <a:cs typeface="Arial" panose="020B0604020202020204" pitchFamily="34" charset="0"/>
              </a:rPr>
              <a:t>Vercel</a:t>
            </a:r>
            <a:r>
              <a:rPr lang="en-US" sz="700" dirty="0">
                <a:solidFill>
                  <a:srgbClr val="000000"/>
                </a:solidFill>
                <a:latin typeface="Arial" panose="020B0604020202020204" pitchFamily="34" charset="0"/>
                <a:ea typeface="Manrope" pitchFamily="34" charset="-122"/>
                <a:cs typeface="Arial" panose="020B0604020202020204" pitchFamily="34" charset="0"/>
              </a:rPr>
              <a:t> — Cloud platform for seamless frontend deployment and scaling</a:t>
            </a:r>
            <a:endParaRPr lang="en-US" sz="700" dirty="0">
              <a:latin typeface="Arial" panose="020B0604020202020204" pitchFamily="34" charset="0"/>
              <a:cs typeface="Arial" panose="020B0604020202020204" pitchFamily="34" charset="0"/>
            </a:endParaRPr>
          </a:p>
        </p:txBody>
      </p:sp>
      <p:sp>
        <p:nvSpPr>
          <p:cNvPr id="15" name="Text 12"/>
          <p:cNvSpPr/>
          <p:nvPr/>
        </p:nvSpPr>
        <p:spPr>
          <a:xfrm>
            <a:off x="4729852" y="3158506"/>
            <a:ext cx="1305148" cy="106040"/>
          </a:xfrm>
          <a:prstGeom prst="rect">
            <a:avLst/>
          </a:prstGeom>
          <a:noFill/>
          <a:ln/>
        </p:spPr>
        <p:txBody>
          <a:bodyPr wrap="none" lIns="0" tIns="0" rIns="0" bIns="0" rtlCol="0" anchor="t"/>
          <a:lstStyle/>
          <a:p>
            <a:pPr marL="0" indent="0" algn="l">
              <a:lnSpc>
                <a:spcPct val="104000"/>
              </a:lnSpc>
              <a:buNone/>
            </a:pPr>
            <a:r>
              <a:rPr lang="en-US" sz="900" dirty="0">
                <a:solidFill>
                  <a:srgbClr val="0C0D0F"/>
                </a:solidFill>
                <a:latin typeface="Arial" panose="020B0604020202020204" pitchFamily="34" charset="0"/>
                <a:ea typeface="Inter" pitchFamily="34" charset="-122"/>
                <a:cs typeface="Arial" panose="020B0604020202020204" pitchFamily="34" charset="0"/>
              </a:rPr>
              <a:t>Backend &amp; AI Stack</a:t>
            </a:r>
            <a:endParaRPr lang="en-US" sz="900" dirty="0">
              <a:latin typeface="Arial" panose="020B0604020202020204" pitchFamily="34" charset="0"/>
              <a:cs typeface="Arial" panose="020B0604020202020204" pitchFamily="34" charset="0"/>
            </a:endParaRPr>
          </a:p>
        </p:txBody>
      </p:sp>
      <p:sp>
        <p:nvSpPr>
          <p:cNvPr id="16" name="Text 13"/>
          <p:cNvSpPr/>
          <p:nvPr/>
        </p:nvSpPr>
        <p:spPr>
          <a:xfrm>
            <a:off x="4729852" y="3301605"/>
            <a:ext cx="2591991" cy="988070"/>
          </a:xfrm>
          <a:prstGeom prst="rect">
            <a:avLst/>
          </a:prstGeom>
          <a:noFill/>
          <a:ln/>
        </p:spPr>
        <p:txBody>
          <a:bodyPr wrap="square" lIns="0" tIns="0" rIns="0" bIns="0" rtlCol="0" anchor="t">
            <a:noAutofit/>
          </a:bodyPr>
          <a:lstStyle/>
          <a:p>
            <a:pPr marL="342900" indent="-342900" algn="l">
              <a:lnSpc>
                <a:spcPct val="103000"/>
              </a:lnSpc>
              <a:buSzPct val="100000"/>
              <a:buChar char="•"/>
            </a:pPr>
            <a:r>
              <a:rPr lang="en-US" sz="700" b="1" dirty="0">
                <a:solidFill>
                  <a:srgbClr val="55575A"/>
                </a:solidFill>
                <a:latin typeface="Arial" panose="020B0604020202020204" pitchFamily="34" charset="0"/>
                <a:ea typeface="Manrope" pitchFamily="34" charset="-122"/>
                <a:cs typeface="Arial" panose="020B0604020202020204" pitchFamily="34" charset="0"/>
              </a:rPr>
              <a:t>Python</a:t>
            </a:r>
            <a:r>
              <a:rPr lang="en-US" sz="700" dirty="0">
                <a:solidFill>
                  <a:srgbClr val="55575A"/>
                </a:solidFill>
                <a:latin typeface="Arial" panose="020B0604020202020204" pitchFamily="34" charset="0"/>
                <a:ea typeface="Manrope" pitchFamily="34" charset="-122"/>
                <a:cs typeface="Arial" panose="020B0604020202020204" pitchFamily="34" charset="0"/>
              </a:rPr>
              <a:t> — Core backend language for document processing and AI integration</a:t>
            </a:r>
            <a:endParaRPr lang="en-US" sz="700" dirty="0">
              <a:latin typeface="Arial" panose="020B0604020202020204" pitchFamily="34" charset="0"/>
              <a:cs typeface="Arial" panose="020B0604020202020204" pitchFamily="34" charset="0"/>
            </a:endParaRPr>
          </a:p>
          <a:p>
            <a:pPr marL="342900" indent="-342900" algn="l">
              <a:lnSpc>
                <a:spcPct val="103000"/>
              </a:lnSpc>
              <a:buSzPct val="100000"/>
              <a:buChar char="•"/>
            </a:pPr>
            <a:r>
              <a:rPr lang="en-US" sz="700" b="1" dirty="0">
                <a:solidFill>
                  <a:srgbClr val="55575A"/>
                </a:solidFill>
                <a:latin typeface="Arial" panose="020B0604020202020204" pitchFamily="34" charset="0"/>
                <a:ea typeface="Manrope" pitchFamily="34" charset="-122"/>
                <a:cs typeface="Arial" panose="020B0604020202020204" pitchFamily="34" charset="0"/>
              </a:rPr>
              <a:t>FastAPI + Uvicorn</a:t>
            </a:r>
            <a:r>
              <a:rPr lang="en-US" sz="700" dirty="0">
                <a:solidFill>
                  <a:srgbClr val="55575A"/>
                </a:solidFill>
                <a:latin typeface="Arial" panose="020B0604020202020204" pitchFamily="34" charset="0"/>
                <a:ea typeface="Manrope" pitchFamily="34" charset="-122"/>
                <a:cs typeface="Arial" panose="020B0604020202020204" pitchFamily="34" charset="0"/>
              </a:rPr>
              <a:t> — High-performance async API framework for low-latency responses</a:t>
            </a:r>
            <a:endParaRPr lang="en-US" sz="700" dirty="0">
              <a:latin typeface="Arial" panose="020B0604020202020204" pitchFamily="34" charset="0"/>
              <a:cs typeface="Arial" panose="020B0604020202020204" pitchFamily="34" charset="0"/>
            </a:endParaRPr>
          </a:p>
          <a:p>
            <a:pPr marL="342900" indent="-342900" algn="l">
              <a:lnSpc>
                <a:spcPct val="103000"/>
              </a:lnSpc>
              <a:buSzPct val="100000"/>
              <a:buChar char="•"/>
            </a:pPr>
            <a:r>
              <a:rPr lang="en-US" sz="700" b="1" dirty="0">
                <a:solidFill>
                  <a:srgbClr val="55575A"/>
                </a:solidFill>
                <a:latin typeface="Arial" panose="020B0604020202020204" pitchFamily="34" charset="0"/>
                <a:ea typeface="Manrope" pitchFamily="34" charset="-122"/>
                <a:cs typeface="Arial" panose="020B0604020202020204" pitchFamily="34" charset="0"/>
              </a:rPr>
              <a:t>Gemini API</a:t>
            </a:r>
            <a:r>
              <a:rPr lang="en-US" sz="700" dirty="0">
                <a:solidFill>
                  <a:srgbClr val="55575A"/>
                </a:solidFill>
                <a:latin typeface="Arial" panose="020B0604020202020204" pitchFamily="34" charset="0"/>
                <a:ea typeface="Manrope" pitchFamily="34" charset="-122"/>
                <a:cs typeface="Arial" panose="020B0604020202020204" pitchFamily="34" charset="0"/>
              </a:rPr>
              <a:t> — Google's large language model for reasoning and answer generation</a:t>
            </a:r>
            <a:endParaRPr lang="en-US" sz="700" dirty="0">
              <a:latin typeface="Arial" panose="020B0604020202020204" pitchFamily="34" charset="0"/>
              <a:cs typeface="Arial" panose="020B0604020202020204" pitchFamily="34" charset="0"/>
            </a:endParaRPr>
          </a:p>
          <a:p>
            <a:pPr marL="342900" indent="-342900" algn="l">
              <a:lnSpc>
                <a:spcPct val="103000"/>
              </a:lnSpc>
              <a:buSzPct val="100000"/>
              <a:buChar char="•"/>
            </a:pPr>
            <a:r>
              <a:rPr lang="en-US" sz="700" b="1" dirty="0">
                <a:solidFill>
                  <a:srgbClr val="55575A"/>
                </a:solidFill>
                <a:latin typeface="Arial" panose="020B0604020202020204" pitchFamily="34" charset="0"/>
                <a:ea typeface="Manrope" pitchFamily="34" charset="-122"/>
                <a:cs typeface="Arial" panose="020B0604020202020204" pitchFamily="34" charset="0"/>
              </a:rPr>
              <a:t>Local Document Storage</a:t>
            </a:r>
            <a:r>
              <a:rPr lang="en-US" sz="700" dirty="0">
                <a:solidFill>
                  <a:srgbClr val="55575A"/>
                </a:solidFill>
                <a:latin typeface="Arial" panose="020B0604020202020204" pitchFamily="34" charset="0"/>
                <a:ea typeface="Manrope" pitchFamily="34" charset="-122"/>
                <a:cs typeface="Arial" panose="020B0604020202020204" pitchFamily="34" charset="0"/>
              </a:rPr>
              <a:t> — Secure on-premise or cloud storage for uploaded files</a:t>
            </a:r>
            <a:endParaRPr lang="en-US" sz="700" dirty="0">
              <a:latin typeface="Arial" panose="020B0604020202020204" pitchFamily="34" charset="0"/>
              <a:cs typeface="Arial" panose="020B0604020202020204" pitchFamily="34" charset="0"/>
            </a:endParaRPr>
          </a:p>
          <a:p>
            <a:pPr marL="342900" indent="-342900" algn="l">
              <a:lnSpc>
                <a:spcPct val="103000"/>
              </a:lnSpc>
              <a:buSzPct val="100000"/>
              <a:buChar char="•"/>
            </a:pPr>
            <a:r>
              <a:rPr lang="en-US" sz="700" b="1" dirty="0">
                <a:solidFill>
                  <a:srgbClr val="55575A"/>
                </a:solidFill>
                <a:latin typeface="Arial" panose="020B0604020202020204" pitchFamily="34" charset="0"/>
                <a:ea typeface="Manrope" pitchFamily="34" charset="-122"/>
                <a:cs typeface="Arial" panose="020B0604020202020204" pitchFamily="34" charset="0"/>
              </a:rPr>
              <a:t>Local Metadata Storage</a:t>
            </a:r>
            <a:r>
              <a:rPr lang="en-US" sz="700" dirty="0">
                <a:solidFill>
                  <a:srgbClr val="55575A"/>
                </a:solidFill>
                <a:latin typeface="Arial" panose="020B0604020202020204" pitchFamily="34" charset="0"/>
                <a:ea typeface="Manrope" pitchFamily="34" charset="-122"/>
                <a:cs typeface="Arial" panose="020B0604020202020204" pitchFamily="34" charset="0"/>
              </a:rPr>
              <a:t> — Structured storage for document metadata, citations, and user data</a:t>
            </a:r>
            <a:endParaRPr lang="en-US" sz="700" dirty="0">
              <a:latin typeface="Arial" panose="020B0604020202020204" pitchFamily="34" charset="0"/>
              <a:cs typeface="Arial" panose="020B0604020202020204" pitchFamily="34" charset="0"/>
            </a:endParaRPr>
          </a:p>
          <a:p>
            <a:pPr marL="342900" indent="-342900" algn="l">
              <a:lnSpc>
                <a:spcPct val="103000"/>
              </a:lnSpc>
              <a:buSzPct val="100000"/>
              <a:buChar char="•"/>
            </a:pPr>
            <a:r>
              <a:rPr lang="en-US" sz="700" b="1" dirty="0">
                <a:solidFill>
                  <a:srgbClr val="55575A"/>
                </a:solidFill>
                <a:latin typeface="Arial" panose="020B0604020202020204" pitchFamily="34" charset="0"/>
                <a:ea typeface="Manrope" pitchFamily="34" charset="-122"/>
                <a:cs typeface="Arial" panose="020B0604020202020204" pitchFamily="34" charset="0"/>
              </a:rPr>
              <a:t>Retrieval Pipeline</a:t>
            </a:r>
            <a:r>
              <a:rPr lang="en-US" sz="700" dirty="0">
                <a:solidFill>
                  <a:srgbClr val="55575A"/>
                </a:solidFill>
                <a:latin typeface="Arial" panose="020B0604020202020204" pitchFamily="34" charset="0"/>
                <a:ea typeface="Manrope" pitchFamily="34" charset="-122"/>
                <a:cs typeface="Arial" panose="020B0604020202020204" pitchFamily="34" charset="0"/>
              </a:rPr>
              <a:t> — Custom semantic search engine for accurate, context-aware document retrieval</a:t>
            </a:r>
            <a:endParaRPr lang="en-US" sz="700" dirty="0">
              <a:latin typeface="Arial" panose="020B0604020202020204" pitchFamily="34" charset="0"/>
              <a:cs typeface="Arial" panose="020B0604020202020204" pitchFamily="34" charset="0"/>
            </a:endParaRPr>
          </a:p>
        </p:txBody>
      </p:sp>
      <p:sp>
        <p:nvSpPr>
          <p:cNvPr id="17" name="Shape 14"/>
          <p:cNvSpPr/>
          <p:nvPr/>
        </p:nvSpPr>
        <p:spPr>
          <a:xfrm>
            <a:off x="920262" y="4842537"/>
            <a:ext cx="6401582" cy="268337"/>
          </a:xfrm>
          <a:prstGeom prst="roundRect">
            <a:avLst>
              <a:gd name="adj" fmla="val 22753"/>
            </a:avLst>
          </a:prstGeom>
          <a:solidFill>
            <a:srgbClr val="B6FCB8"/>
          </a:solidFill>
          <a:ln/>
        </p:spPr>
        <p:txBody>
          <a:bodyPr/>
          <a:lstStyle/>
          <a:p>
            <a:endParaRPr sz="2400">
              <a:latin typeface="Arial" panose="020B0604020202020204" pitchFamily="34" charset="0"/>
              <a:cs typeface="Arial" panose="020B0604020202020204" pitchFamily="34" charset="0"/>
            </a:endParaRPr>
          </a:p>
        </p:txBody>
      </p:sp>
      <p:pic>
        <p:nvPicPr>
          <p:cNvPr id="18" name="Image 1" descr="preencoded.png"/>
          <p:cNvPicPr>
            <a:picLocks noChangeAspect="1"/>
          </p:cNvPicPr>
          <p:nvPr/>
        </p:nvPicPr>
        <p:blipFill>
          <a:blip r:embed="rId4"/>
          <a:stretch>
            <a:fillRect/>
          </a:stretch>
        </p:blipFill>
        <p:spPr>
          <a:xfrm>
            <a:off x="964491" y="4841206"/>
            <a:ext cx="179246" cy="143364"/>
          </a:xfrm>
          <a:prstGeom prst="rect">
            <a:avLst/>
          </a:prstGeom>
        </p:spPr>
      </p:pic>
      <p:sp>
        <p:nvSpPr>
          <p:cNvPr id="19" name="Text 15"/>
          <p:cNvSpPr/>
          <p:nvPr/>
        </p:nvSpPr>
        <p:spPr>
          <a:xfrm>
            <a:off x="1217141" y="4892766"/>
            <a:ext cx="6463819" cy="167878"/>
          </a:xfrm>
          <a:prstGeom prst="rect">
            <a:avLst/>
          </a:prstGeom>
          <a:noFill/>
          <a:ln/>
        </p:spPr>
        <p:txBody>
          <a:bodyPr wrap="square" lIns="0" tIns="0" rIns="0" bIns="0" rtlCol="0" anchor="t">
            <a:normAutofit fontScale="92500" lnSpcReduction="20000"/>
          </a:bodyPr>
          <a:lstStyle/>
          <a:p>
            <a:pPr marL="0" indent="0" algn="l">
              <a:lnSpc>
                <a:spcPct val="103000"/>
              </a:lnSpc>
              <a:buNone/>
            </a:pPr>
            <a:r>
              <a:rPr lang="en-US" sz="700" b="1" dirty="0">
                <a:solidFill>
                  <a:srgbClr val="000000"/>
                </a:solidFill>
                <a:latin typeface="Arial" panose="020B0604020202020204" pitchFamily="34" charset="0"/>
                <a:ea typeface="Manrope" pitchFamily="34" charset="-122"/>
                <a:cs typeface="Arial" panose="020B0604020202020204" pitchFamily="34" charset="0"/>
              </a:rPr>
              <a:t>Key message:</a:t>
            </a:r>
            <a:r>
              <a:rPr lang="en-US" sz="700" dirty="0">
                <a:solidFill>
                  <a:srgbClr val="000000"/>
                </a:solidFill>
                <a:latin typeface="Arial" panose="020B0604020202020204" pitchFamily="34" charset="0"/>
                <a:ea typeface="Manrope" pitchFamily="34" charset="-122"/>
                <a:cs typeface="Arial" panose="020B0604020202020204" pitchFamily="34" charset="0"/>
              </a:rPr>
              <a:t> DocAI combines document processing, retrieval, reasoning, and enterprise management into one cohesive, scalable platform — built for the demands of modern organizations.</a:t>
            </a:r>
            <a:endParaRPr lang="en-US" sz="700" dirty="0">
              <a:latin typeface="Arial" panose="020B0604020202020204" pitchFamily="34" charset="0"/>
              <a:cs typeface="Arial" panose="020B0604020202020204" pitchFamily="34" charset="0"/>
            </a:endParaRPr>
          </a:p>
        </p:txBody>
      </p:sp>
      <p:sp>
        <p:nvSpPr>
          <p:cNvPr id="20" name="Shape 9">
            <a:extLst>
              <a:ext uri="{FF2B5EF4-FFF2-40B4-BE49-F238E27FC236}">
                <a16:creationId xmlns:a16="http://schemas.microsoft.com/office/drawing/2014/main" id="{FE0B9DEA-BEC4-F6A6-4272-FCD46B5B2077}"/>
              </a:ext>
            </a:extLst>
          </p:cNvPr>
          <p:cNvSpPr/>
          <p:nvPr/>
        </p:nvSpPr>
        <p:spPr>
          <a:xfrm>
            <a:off x="4523110" y="3126166"/>
            <a:ext cx="2932767" cy="1592371"/>
          </a:xfrm>
          <a:prstGeom prst="roundRect">
            <a:avLst>
              <a:gd name="adj" fmla="val 8270"/>
            </a:avLst>
          </a:prstGeom>
          <a:noFill/>
          <a:ln>
            <a:solidFill>
              <a:schemeClr val="accent2">
                <a:lumMod val="75000"/>
              </a:schemeClr>
            </a:solidFill>
          </a:ln>
        </p:spPr>
        <p:txBody>
          <a:bodyPr/>
          <a:lstStyle/>
          <a:p>
            <a:endParaRPr sz="2400">
              <a:latin typeface="Arial" panose="020B0604020202020204" pitchFamily="34" charset="0"/>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96119" y="663104"/>
            <a:ext cx="5961683" cy="387548"/>
          </a:xfrm>
          <a:prstGeom prst="rect">
            <a:avLst/>
          </a:prstGeom>
          <a:noFill/>
          <a:ln/>
        </p:spPr>
        <p:txBody>
          <a:bodyPr wrap="none" lIns="0" tIns="0" rIns="0" bIns="0" rtlCol="0" anchor="t"/>
          <a:lstStyle/>
          <a:p>
            <a:pPr marL="0" indent="0" algn="l">
              <a:lnSpc>
                <a:spcPct val="104000"/>
              </a:lnSpc>
              <a:buNone/>
            </a:pPr>
            <a:r>
              <a:rPr lang="en-US" sz="2400" dirty="0">
                <a:solidFill>
                  <a:srgbClr val="0C0D0F"/>
                </a:solidFill>
                <a:latin typeface="PT Serif" panose="020A0603040505020204" pitchFamily="18" charset="0"/>
                <a:ea typeface="Inter" pitchFamily="34" charset="-122"/>
                <a:cs typeface="Inter" pitchFamily="34" charset="-120"/>
              </a:rPr>
              <a:t>DocAI: Built for Enterprise Knowledge</a:t>
            </a:r>
            <a:endParaRPr lang="en-US" sz="2400" dirty="0">
              <a:latin typeface="PT Serif" panose="020A0603040505020204" pitchFamily="18" charset="0"/>
            </a:endParaRPr>
          </a:p>
        </p:txBody>
      </p:sp>
      <p:sp>
        <p:nvSpPr>
          <p:cNvPr id="3" name="Text 1"/>
          <p:cNvSpPr/>
          <p:nvPr/>
        </p:nvSpPr>
        <p:spPr>
          <a:xfrm>
            <a:off x="496119" y="1298674"/>
            <a:ext cx="8151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55575A"/>
                </a:solidFill>
                <a:latin typeface="Manrope" pitchFamily="34" charset="0"/>
                <a:ea typeface="Manrope" pitchFamily="34" charset="-122"/>
                <a:cs typeface="Manrope" pitchFamily="34" charset="-120"/>
              </a:rPr>
              <a:t>DocAI represents a new category of enterprise tool — one that bridges the gap between raw document storage and intelligent, actionable knowledge. It is designed for organizations that take information accuracy, traceability, and governance seriously.</a:t>
            </a:r>
            <a:endParaRPr lang="en-US" sz="950" dirty="0"/>
          </a:p>
        </p:txBody>
      </p:sp>
      <p:sp>
        <p:nvSpPr>
          <p:cNvPr id="4" name="Shape 2"/>
          <p:cNvSpPr/>
          <p:nvPr/>
        </p:nvSpPr>
        <p:spPr>
          <a:xfrm>
            <a:off x="496119" y="1835125"/>
            <a:ext cx="4013895" cy="922660"/>
          </a:xfrm>
          <a:prstGeom prst="roundRect">
            <a:avLst>
              <a:gd name="adj" fmla="val 12100"/>
            </a:avLst>
          </a:prstGeom>
          <a:solidFill>
            <a:srgbClr val="FFFFFF"/>
          </a:solidFill>
          <a:ln w="4763">
            <a:solidFill>
              <a:srgbClr val="FF7047"/>
            </a:solidFill>
            <a:prstDash val="solid"/>
          </a:ln>
        </p:spPr>
        <p:txBody>
          <a:bodyPr/>
          <a:lstStyle/>
          <a:p>
            <a:endParaRPr/>
          </a:p>
        </p:txBody>
      </p:sp>
      <p:sp>
        <p:nvSpPr>
          <p:cNvPr id="5" name="Text 3"/>
          <p:cNvSpPr/>
          <p:nvPr/>
        </p:nvSpPr>
        <p:spPr>
          <a:xfrm>
            <a:off x="624855" y="1963862"/>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55575A"/>
                </a:solidFill>
                <a:latin typeface="Inter" pitchFamily="34" charset="0"/>
                <a:ea typeface="Inter" pitchFamily="34" charset="-122"/>
                <a:cs typeface="Inter" pitchFamily="34" charset="-120"/>
              </a:rPr>
              <a:t>Trusted Answers</a:t>
            </a:r>
            <a:endParaRPr lang="en-US" sz="1200" dirty="0"/>
          </a:p>
        </p:txBody>
      </p:sp>
      <p:sp>
        <p:nvSpPr>
          <p:cNvPr id="6" name="Text 4"/>
          <p:cNvSpPr/>
          <p:nvPr/>
        </p:nvSpPr>
        <p:spPr>
          <a:xfrm>
            <a:off x="624855" y="2232124"/>
            <a:ext cx="3756422"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55575A"/>
                </a:solidFill>
                <a:latin typeface="Manrope" pitchFamily="34" charset="0"/>
                <a:ea typeface="Manrope" pitchFamily="34" charset="-122"/>
                <a:cs typeface="Manrope" pitchFamily="34" charset="-120"/>
              </a:rPr>
              <a:t>Every response is citation-backed and traceable to its source document — no hallucinations, no guesswork.</a:t>
            </a:r>
            <a:endParaRPr lang="en-US" sz="950" dirty="0"/>
          </a:p>
        </p:txBody>
      </p:sp>
      <p:sp>
        <p:nvSpPr>
          <p:cNvPr id="7" name="Shape 5"/>
          <p:cNvSpPr/>
          <p:nvPr/>
        </p:nvSpPr>
        <p:spPr>
          <a:xfrm>
            <a:off x="4633987" y="1835125"/>
            <a:ext cx="4013895" cy="922660"/>
          </a:xfrm>
          <a:prstGeom prst="roundRect">
            <a:avLst>
              <a:gd name="adj" fmla="val 12100"/>
            </a:avLst>
          </a:prstGeom>
          <a:solidFill>
            <a:srgbClr val="FFFFFF"/>
          </a:solidFill>
          <a:ln w="4763">
            <a:solidFill>
              <a:srgbClr val="FF7047"/>
            </a:solidFill>
            <a:prstDash val="solid"/>
          </a:ln>
        </p:spPr>
        <p:txBody>
          <a:bodyPr/>
          <a:lstStyle/>
          <a:p>
            <a:endParaRPr/>
          </a:p>
        </p:txBody>
      </p:sp>
      <p:sp>
        <p:nvSpPr>
          <p:cNvPr id="8" name="Text 6"/>
          <p:cNvSpPr/>
          <p:nvPr/>
        </p:nvSpPr>
        <p:spPr>
          <a:xfrm>
            <a:off x="4762723" y="1963862"/>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55575A"/>
                </a:solidFill>
                <a:latin typeface="Inter" pitchFamily="34" charset="0"/>
                <a:ea typeface="Inter" pitchFamily="34" charset="-122"/>
                <a:cs typeface="Inter" pitchFamily="34" charset="-120"/>
              </a:rPr>
              <a:t>Enterprise Ready</a:t>
            </a:r>
            <a:endParaRPr lang="en-US" sz="1200" dirty="0"/>
          </a:p>
        </p:txBody>
      </p:sp>
      <p:sp>
        <p:nvSpPr>
          <p:cNvPr id="9" name="Text 7"/>
          <p:cNvSpPr/>
          <p:nvPr/>
        </p:nvSpPr>
        <p:spPr>
          <a:xfrm>
            <a:off x="4762723" y="2232124"/>
            <a:ext cx="3756422"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55575A"/>
                </a:solidFill>
                <a:latin typeface="Manrope" pitchFamily="34" charset="0"/>
                <a:ea typeface="Manrope" pitchFamily="34" charset="-122"/>
                <a:cs typeface="Manrope" pitchFamily="34" charset="-120"/>
              </a:rPr>
              <a:t>Role-based access, admin oversight, analytics, and knowledge quality management built in from the ground up.</a:t>
            </a:r>
            <a:endParaRPr lang="en-US" sz="950" dirty="0"/>
          </a:p>
        </p:txBody>
      </p:sp>
      <p:sp>
        <p:nvSpPr>
          <p:cNvPr id="10" name="Shape 8"/>
          <p:cNvSpPr/>
          <p:nvPr/>
        </p:nvSpPr>
        <p:spPr>
          <a:xfrm>
            <a:off x="496119" y="2881759"/>
            <a:ext cx="4013895" cy="922660"/>
          </a:xfrm>
          <a:prstGeom prst="roundRect">
            <a:avLst>
              <a:gd name="adj" fmla="val 12100"/>
            </a:avLst>
          </a:prstGeom>
          <a:solidFill>
            <a:srgbClr val="FFFFFF"/>
          </a:solidFill>
          <a:ln w="4763">
            <a:solidFill>
              <a:srgbClr val="FF7047"/>
            </a:solidFill>
            <a:prstDash val="solid"/>
          </a:ln>
        </p:spPr>
        <p:txBody>
          <a:bodyPr/>
          <a:lstStyle/>
          <a:p>
            <a:endParaRPr/>
          </a:p>
        </p:txBody>
      </p:sp>
      <p:sp>
        <p:nvSpPr>
          <p:cNvPr id="11" name="Text 9"/>
          <p:cNvSpPr/>
          <p:nvPr/>
        </p:nvSpPr>
        <p:spPr>
          <a:xfrm>
            <a:off x="624855" y="3010495"/>
            <a:ext cx="1564704" cy="193849"/>
          </a:xfrm>
          <a:prstGeom prst="rect">
            <a:avLst/>
          </a:prstGeom>
          <a:noFill/>
          <a:ln/>
        </p:spPr>
        <p:txBody>
          <a:bodyPr wrap="none" lIns="0" tIns="0" rIns="0" bIns="0" rtlCol="0" anchor="t"/>
          <a:lstStyle/>
          <a:p>
            <a:pPr marL="0" indent="0" algn="l">
              <a:lnSpc>
                <a:spcPct val="104000"/>
              </a:lnSpc>
              <a:buNone/>
            </a:pPr>
            <a:r>
              <a:rPr lang="en-US" sz="1200" dirty="0">
                <a:solidFill>
                  <a:srgbClr val="55575A"/>
                </a:solidFill>
                <a:latin typeface="Inter" pitchFamily="34" charset="0"/>
                <a:ea typeface="Inter" pitchFamily="34" charset="-122"/>
                <a:cs typeface="Inter" pitchFamily="34" charset="-120"/>
              </a:rPr>
              <a:t>Scalable Architecture</a:t>
            </a:r>
            <a:endParaRPr lang="en-US" sz="1200" dirty="0"/>
          </a:p>
        </p:txBody>
      </p:sp>
      <p:sp>
        <p:nvSpPr>
          <p:cNvPr id="12" name="Text 10"/>
          <p:cNvSpPr/>
          <p:nvPr/>
        </p:nvSpPr>
        <p:spPr>
          <a:xfrm>
            <a:off x="624855" y="3278758"/>
            <a:ext cx="3756422"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55575A"/>
                </a:solidFill>
                <a:latin typeface="Manrope" pitchFamily="34" charset="0"/>
                <a:ea typeface="Manrope" pitchFamily="34" charset="-122"/>
                <a:cs typeface="Manrope" pitchFamily="34" charset="-120"/>
              </a:rPr>
              <a:t>Modern tech stack — React, FastAPI, Gemini — designed to scale with your organization's document library and user base.</a:t>
            </a:r>
            <a:endParaRPr lang="en-US" sz="950" dirty="0"/>
          </a:p>
        </p:txBody>
      </p:sp>
      <p:sp>
        <p:nvSpPr>
          <p:cNvPr id="13" name="Shape 11"/>
          <p:cNvSpPr/>
          <p:nvPr/>
        </p:nvSpPr>
        <p:spPr>
          <a:xfrm>
            <a:off x="4633987" y="2881759"/>
            <a:ext cx="4013895" cy="922660"/>
          </a:xfrm>
          <a:prstGeom prst="roundRect">
            <a:avLst>
              <a:gd name="adj" fmla="val 12100"/>
            </a:avLst>
          </a:prstGeom>
          <a:solidFill>
            <a:srgbClr val="FFFFFF"/>
          </a:solidFill>
          <a:ln w="4763">
            <a:solidFill>
              <a:srgbClr val="FF7047"/>
            </a:solidFill>
            <a:prstDash val="solid"/>
          </a:ln>
        </p:spPr>
        <p:txBody>
          <a:bodyPr/>
          <a:lstStyle/>
          <a:p>
            <a:endParaRPr/>
          </a:p>
        </p:txBody>
      </p:sp>
      <p:sp>
        <p:nvSpPr>
          <p:cNvPr id="14" name="Text 12"/>
          <p:cNvSpPr/>
          <p:nvPr/>
        </p:nvSpPr>
        <p:spPr>
          <a:xfrm>
            <a:off x="4762723" y="3010495"/>
            <a:ext cx="1840185" cy="193849"/>
          </a:xfrm>
          <a:prstGeom prst="rect">
            <a:avLst/>
          </a:prstGeom>
          <a:noFill/>
          <a:ln/>
        </p:spPr>
        <p:txBody>
          <a:bodyPr wrap="none" lIns="0" tIns="0" rIns="0" bIns="0" rtlCol="0" anchor="t"/>
          <a:lstStyle/>
          <a:p>
            <a:pPr marL="0" indent="0" algn="l">
              <a:lnSpc>
                <a:spcPct val="104000"/>
              </a:lnSpc>
              <a:buNone/>
            </a:pPr>
            <a:r>
              <a:rPr lang="en-US" sz="1200" dirty="0">
                <a:solidFill>
                  <a:srgbClr val="55575A"/>
                </a:solidFill>
                <a:latin typeface="Inter" pitchFamily="34" charset="0"/>
                <a:ea typeface="Inter" pitchFamily="34" charset="-122"/>
                <a:cs typeface="Inter" pitchFamily="34" charset="-120"/>
              </a:rPr>
              <a:t>Continuous Improvement</a:t>
            </a:r>
            <a:endParaRPr lang="en-US" sz="1200" dirty="0"/>
          </a:p>
        </p:txBody>
      </p:sp>
      <p:sp>
        <p:nvSpPr>
          <p:cNvPr id="15" name="Text 13"/>
          <p:cNvSpPr/>
          <p:nvPr/>
        </p:nvSpPr>
        <p:spPr>
          <a:xfrm>
            <a:off x="4762723" y="3278758"/>
            <a:ext cx="3756422"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55575A"/>
                </a:solidFill>
                <a:latin typeface="Manrope" pitchFamily="34" charset="0"/>
                <a:ea typeface="Manrope" pitchFamily="34" charset="-122"/>
                <a:cs typeface="Manrope" pitchFamily="34" charset="-120"/>
              </a:rPr>
              <a:t>Review queues, conflict detection, and knowledge gap analysis ensure the platform gets smarter over time.</a:t>
            </a:r>
            <a:endParaRPr lang="en-US" sz="950" dirty="0"/>
          </a:p>
        </p:txBody>
      </p:sp>
      <p:sp>
        <p:nvSpPr>
          <p:cNvPr id="16" name="Text 14"/>
          <p:cNvSpPr/>
          <p:nvPr/>
        </p:nvSpPr>
        <p:spPr>
          <a:xfrm>
            <a:off x="682154" y="3943945"/>
            <a:ext cx="7965728"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55575A"/>
                </a:solidFill>
                <a:latin typeface="Manrope" pitchFamily="34" charset="0"/>
                <a:ea typeface="Manrope" pitchFamily="34" charset="-122"/>
                <a:cs typeface="Manrope" pitchFamily="34" charset="-120"/>
              </a:rPr>
              <a:t>DocAI converts scattered company documents into a trusted, searchable knowledge system — eliminating manual search and delivering citation-backed answers at enterprise scale.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2044</Words>
  <Application>Microsoft Office PowerPoint</Application>
  <PresentationFormat>On-screen Show (16:9)</PresentationFormat>
  <Paragraphs>150</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PT Serif</vt:lpstr>
      <vt:lpstr>Inter</vt:lpstr>
      <vt:lpstr>Manrope</vt:lpstr>
      <vt:lpstr>DM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Niswanth T</dc:creator>
  <cp:lastModifiedBy>victor vengatesh</cp:lastModifiedBy>
  <cp:revision>3</cp:revision>
  <dcterms:created xsi:type="dcterms:W3CDTF">2026-06-09T15:39:10Z</dcterms:created>
  <dcterms:modified xsi:type="dcterms:W3CDTF">2026-06-10T16:10:46Z</dcterms:modified>
</cp:coreProperties>
</file>